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Roboto Medium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Poppins Light"/>
      <p:regular r:id="rId27"/>
      <p:bold r:id="rId28"/>
      <p:italic r:id="rId29"/>
      <p:boldItalic r:id="rId30"/>
    </p:embeddedFont>
    <p:embeddedFont>
      <p:font typeface="Poppins Medium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5787AD-701A-4FD6-AF8B-DABED2C6643D}">
  <a:tblStyle styleId="{BD5787AD-701A-4FD6-AF8B-DABED2C664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bold.fntdata"/><Relationship Id="rId22" Type="http://schemas.openxmlformats.org/officeDocument/2006/relationships/font" Target="fonts/RobotoMedium-boldItalic.fntdata"/><Relationship Id="rId21" Type="http://schemas.openxmlformats.org/officeDocument/2006/relationships/font" Target="fonts/RobotoMedium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Light-bold.fntdata"/><Relationship Id="rId27" Type="http://schemas.openxmlformats.org/officeDocument/2006/relationships/font" Target="fonts/Poppins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Medium-regular.fntdata"/><Relationship Id="rId30" Type="http://schemas.openxmlformats.org/officeDocument/2006/relationships/font" Target="fonts/Poppins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Medium-italic.fntdata"/><Relationship Id="rId10" Type="http://schemas.openxmlformats.org/officeDocument/2006/relationships/slide" Target="slides/slide4.xml"/><Relationship Id="rId32" Type="http://schemas.openxmlformats.org/officeDocument/2006/relationships/font" Target="fonts/PoppinsMedium-bold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Poppins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PoppinsSemiBold-boldItalic.fntdata"/><Relationship Id="rId19" Type="http://schemas.openxmlformats.org/officeDocument/2006/relationships/font" Target="fonts/Roboto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0d08f833c_7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90d08f833c_7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0d08f833c_7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90d08f833c_7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0d08f833c_7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90d08f833c_7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0d1d7a03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90d1d7a035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1638f2ec6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Retirer “RT”, que les données statiques ont été utilisées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Corriger “OUPUT”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Il serait plus valorisant ou “éthique” de dire “Report modal” au lieu de “changements de comportement”</a:t>
            </a:r>
            <a:endParaRPr/>
          </a:p>
        </p:txBody>
      </p:sp>
      <p:sp>
        <p:nvSpPr>
          <p:cNvPr id="207" name="Google Shape;207;g31638f2ec60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638f2ec6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1638f2ec60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0d08f833c_7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90d08f833c_7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0d1d7a0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g390d1d7a03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0d1d7a03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g390d1d7a035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1638f2ec6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31638f2ec60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90d08f833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390d08f833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2" y="9233632"/>
            <a:ext cx="2667000" cy="77529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hyperlink" Target="https://github.com/hackathons-mobilites/hackathon_mobilites_2025/tree/equipe-9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atalab.data-platform-self-service.net/file-explorer/dlb-hackathon/datasets-diffusion/2025/01_Donnees_transilien_SNCF/Courses%20et%20comptage/" TargetMode="External"/><Relationship Id="rId4" Type="http://schemas.openxmlformats.org/officeDocument/2006/relationships/hyperlink" Target="https://datalab.data-platform-self-service.net/file-explorer/dlb-hackathon/datasets-diffusion/2025/10_Meteo_France_Climatologie_horaire/" TargetMode="External"/><Relationship Id="rId5" Type="http://schemas.openxmlformats.org/officeDocument/2006/relationships/hyperlink" Target="https://datalab.data-platform-self-service.net/file-explorer/dlb-hackathon/datasets-diffusion/2025/03_Vigilance_meteo_20221127_20250722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title="Logo Hackathon IDFM 2025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325" y="152400"/>
            <a:ext cx="9506658" cy="67258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4279200" y="5578075"/>
            <a:ext cx="14008800" cy="2133000"/>
          </a:xfrm>
          <a:prstGeom prst="roundRect">
            <a:avLst>
              <a:gd fmla="val 16667" name="adj"/>
            </a:avLst>
          </a:prstGeom>
          <a:solidFill>
            <a:srgbClr val="4E33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683025" y="5813700"/>
            <a:ext cx="97845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PREDICT.MOB</a:t>
            </a:r>
            <a:br>
              <a:rPr b="1" lang="en-US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3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Plateforme de mobilité éco-responsable et de données sur les mobilités des entreprises</a:t>
            </a:r>
            <a:endParaRPr i="0" sz="3400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647450" y="8074225"/>
            <a:ext cx="11553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Défi 2 : Aider les entreprises à  décarboner leurs mobilités  </a:t>
            </a:r>
            <a:endParaRPr b="1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Lien Github / Gitlab : </a:t>
            </a:r>
            <a:r>
              <a:rPr b="0" i="0" lang="en-US" sz="20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https://github.com/hackathons-mobilites/hackathon_mobilites_2025/tree/equipe-9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Membres de l’équipes : Sofie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ne, David, Sami, Gabriel, Marc, Marc S, Corinne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78EC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-1407250" y="779675"/>
            <a:ext cx="11225400" cy="1264200"/>
          </a:xfrm>
          <a:prstGeom prst="roundRect">
            <a:avLst>
              <a:gd fmla="val 41096" name="adj"/>
            </a:avLst>
          </a:prstGeom>
          <a:solidFill>
            <a:srgbClr val="4E33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15116269" y="9589521"/>
            <a:ext cx="1943649" cy="1943649"/>
            <a:chOff x="0" y="0"/>
            <a:chExt cx="812800" cy="812800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16786255" y="9040801"/>
            <a:ext cx="548721" cy="548721"/>
            <a:chOff x="0" y="0"/>
            <a:chExt cx="812800" cy="812800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1028700" y="952625"/>
            <a:ext cx="150762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66"/>
              <a:buFont typeface="Arial"/>
              <a:buNone/>
            </a:pPr>
            <a:r>
              <a:rPr b="1" lang="en-US" sz="5966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Le problème</a:t>
            </a:r>
            <a:endParaRPr b="1" sz="59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7316161" y="249565"/>
            <a:ext cx="1943649" cy="1943649"/>
            <a:chOff x="0" y="0"/>
            <a:chExt cx="812800" cy="812800"/>
          </a:xfrm>
        </p:grpSpPr>
        <p:sp>
          <p:nvSpPr>
            <p:cNvPr id="102" name="Google Shape;10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16710580" y="1777272"/>
            <a:ext cx="548721" cy="548721"/>
            <a:chOff x="0" y="0"/>
            <a:chExt cx="812800" cy="81280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>
            <a:off x="9259103" y="2913175"/>
            <a:ext cx="3681900" cy="52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5555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Les données des enquêtes sur les habitudes mobilités sont le plus souvent </a:t>
            </a:r>
            <a:r>
              <a:rPr lang="en-US" sz="2500">
                <a:solidFill>
                  <a:srgbClr val="555555"/>
                </a:solidFill>
                <a:highlight>
                  <a:srgbClr val="E8F4F8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déclaratives, à grosse maille</a:t>
            </a:r>
            <a:r>
              <a:rPr lang="en-US" sz="2500">
                <a:solidFill>
                  <a:srgbClr val="5555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, et ne reflètent pas nécessairement la réalité.</a:t>
            </a:r>
            <a:endParaRPr sz="2500">
              <a:solidFill>
                <a:srgbClr val="55555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347076" y="2913175"/>
            <a:ext cx="3681900" cy="52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5555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Les entreprises peinent à trouver des </a:t>
            </a:r>
            <a:r>
              <a:rPr lang="en-US" sz="2500">
                <a:solidFill>
                  <a:srgbClr val="555555"/>
                </a:solidFill>
                <a:highlight>
                  <a:srgbClr val="E8F4F8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incitatifs salariés pour stimuler</a:t>
            </a:r>
            <a:r>
              <a:rPr lang="en-US" sz="2500">
                <a:solidFill>
                  <a:srgbClr val="5555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les mobilités décarbonées.</a:t>
            </a:r>
            <a:endParaRPr sz="2500">
              <a:solidFill>
                <a:srgbClr val="55555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13171129" y="2913175"/>
            <a:ext cx="3681900" cy="52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5555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Les données nécessaires pour optimiser l’offre ne sont pas toujours optimisées, et </a:t>
            </a:r>
            <a:r>
              <a:rPr lang="en-US" sz="2500">
                <a:solidFill>
                  <a:srgbClr val="555555"/>
                </a:solidFill>
                <a:highlight>
                  <a:srgbClr val="E8F4F8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produites de façon capitalisable</a:t>
            </a:r>
            <a:r>
              <a:rPr lang="en-US" sz="2500">
                <a:solidFill>
                  <a:srgbClr val="5555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 </a:t>
            </a:r>
            <a:endParaRPr sz="2500">
              <a:solidFill>
                <a:srgbClr val="55555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435050" y="2913175"/>
            <a:ext cx="3681900" cy="52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5555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Les perturbations et la fiabilité des systèmes de mobilités ont un </a:t>
            </a:r>
            <a:r>
              <a:rPr lang="en-US" sz="2500">
                <a:solidFill>
                  <a:srgbClr val="555555"/>
                </a:solidFill>
                <a:highlight>
                  <a:srgbClr val="E8F4F8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impact sur la satisfaction des employés, leurs habitudes et leur bien-être</a:t>
            </a:r>
            <a:r>
              <a:rPr lang="en-US" sz="2500">
                <a:solidFill>
                  <a:srgbClr val="5555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</a:t>
            </a:r>
            <a:endParaRPr sz="2500">
              <a:solidFill>
                <a:srgbClr val="55555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6324095" y="5611171"/>
            <a:ext cx="1321689" cy="3978350"/>
          </a:xfrm>
          <a:custGeom>
            <a:rect b="b" l="l" r="r" t="t"/>
            <a:pathLst>
              <a:path extrusionOk="0" h="3978350" w="1321689">
                <a:moveTo>
                  <a:pt x="0" y="0"/>
                </a:moveTo>
                <a:lnTo>
                  <a:pt x="1321689" y="0"/>
                </a:lnTo>
                <a:lnTo>
                  <a:pt x="1321689" y="3978350"/>
                </a:lnTo>
                <a:lnTo>
                  <a:pt x="0" y="3978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/>
          <p:nvPr/>
        </p:nvSpPr>
        <p:spPr>
          <a:xfrm>
            <a:off x="11472773" y="933014"/>
            <a:ext cx="1388333" cy="1373436"/>
          </a:xfrm>
          <a:custGeom>
            <a:rect b="b" l="l" r="r" t="t"/>
            <a:pathLst>
              <a:path extrusionOk="0" h="1373436" w="1388333">
                <a:moveTo>
                  <a:pt x="0" y="0"/>
                </a:moveTo>
                <a:lnTo>
                  <a:pt x="1388333" y="0"/>
                </a:lnTo>
                <a:lnTo>
                  <a:pt x="1388333" y="1373436"/>
                </a:lnTo>
                <a:lnTo>
                  <a:pt x="0" y="1373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6798900" y="779675"/>
            <a:ext cx="6609300" cy="1264200"/>
          </a:xfrm>
          <a:prstGeom prst="roundRect">
            <a:avLst>
              <a:gd fmla="val 41096" name="adj"/>
            </a:avLst>
          </a:prstGeom>
          <a:solidFill>
            <a:srgbClr val="4E33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-1407250" y="779675"/>
            <a:ext cx="8001600" cy="1264200"/>
          </a:xfrm>
          <a:prstGeom prst="roundRect">
            <a:avLst>
              <a:gd fmla="val 41096" name="adj"/>
            </a:avLst>
          </a:prstGeom>
          <a:solidFill>
            <a:srgbClr val="6FB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5"/>
          <p:cNvGrpSpPr/>
          <p:nvPr/>
        </p:nvGrpSpPr>
        <p:grpSpPr>
          <a:xfrm>
            <a:off x="15116269" y="9589521"/>
            <a:ext cx="1943649" cy="1943649"/>
            <a:chOff x="0" y="0"/>
            <a:chExt cx="812800" cy="812800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16786255" y="9040801"/>
            <a:ext cx="548721" cy="548721"/>
            <a:chOff x="0" y="0"/>
            <a:chExt cx="812800" cy="81280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5"/>
          <p:cNvSpPr txBox="1"/>
          <p:nvPr/>
        </p:nvSpPr>
        <p:spPr>
          <a:xfrm>
            <a:off x="1028700" y="952625"/>
            <a:ext cx="150762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lang="en-US" sz="596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Notre solution    </a:t>
            </a:r>
            <a:r>
              <a:rPr b="1" lang="en-US" sz="59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🔮 Predict.mob 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6" name="Google Shape;126;p15"/>
          <p:cNvGrpSpPr/>
          <p:nvPr/>
        </p:nvGrpSpPr>
        <p:grpSpPr>
          <a:xfrm>
            <a:off x="17316161" y="249565"/>
            <a:ext cx="1943649" cy="1943649"/>
            <a:chOff x="0" y="0"/>
            <a:chExt cx="812800" cy="812800"/>
          </a:xfrm>
        </p:grpSpPr>
        <p:sp>
          <p:nvSpPr>
            <p:cNvPr id="127" name="Google Shape;127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5"/>
          <p:cNvGrpSpPr/>
          <p:nvPr/>
        </p:nvGrpSpPr>
        <p:grpSpPr>
          <a:xfrm>
            <a:off x="16710580" y="1777272"/>
            <a:ext cx="548721" cy="548721"/>
            <a:chOff x="0" y="0"/>
            <a:chExt cx="812800" cy="812800"/>
          </a:xfrm>
        </p:grpSpPr>
        <p:sp>
          <p:nvSpPr>
            <p:cNvPr id="130" name="Google Shape;130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5"/>
          <p:cNvSpPr/>
          <p:nvPr/>
        </p:nvSpPr>
        <p:spPr>
          <a:xfrm>
            <a:off x="6462474" y="7064650"/>
            <a:ext cx="5005500" cy="1841700"/>
          </a:xfrm>
          <a:prstGeom prst="roundRect">
            <a:avLst>
              <a:gd fmla="val 16667" name="adj"/>
            </a:avLst>
          </a:prstGeom>
          <a:solidFill>
            <a:srgbClr val="4F358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BACK-OFFICE RH</a:t>
            </a:r>
            <a:endParaRPr sz="2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RSE</a:t>
            </a:r>
            <a:endParaRPr sz="2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Export Multiformat</a:t>
            </a:r>
            <a:endParaRPr sz="2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1144150" y="7064650"/>
            <a:ext cx="5005500" cy="1841700"/>
          </a:xfrm>
          <a:prstGeom prst="roundRect">
            <a:avLst>
              <a:gd fmla="val 16667" name="adj"/>
            </a:avLst>
          </a:prstGeom>
          <a:solidFill>
            <a:srgbClr val="4F358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 Mobile SALARIÉ</a:t>
            </a:r>
            <a:endParaRPr sz="2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Alertes + Alternatives</a:t>
            </a:r>
            <a:endParaRPr sz="2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Gamification</a:t>
            </a:r>
            <a:endParaRPr sz="2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11780798" y="7064650"/>
            <a:ext cx="5005500" cy="1841700"/>
          </a:xfrm>
          <a:prstGeom prst="roundRect">
            <a:avLst>
              <a:gd fmla="val 16667" name="adj"/>
            </a:avLst>
          </a:prstGeom>
          <a:solidFill>
            <a:srgbClr val="4F358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PLATEFORME DE PARTAGE DONNÉES MOBILITÉS ENTREPRISES</a:t>
            </a:r>
            <a:endParaRPr sz="25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35" name="Google Shape;13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8872" y="3546625"/>
            <a:ext cx="4132710" cy="237510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50000" stPos="0" sy="-100000" ky="0"/>
          </a:effectLst>
        </p:spPr>
      </p:pic>
      <p:pic>
        <p:nvPicPr>
          <p:cNvPr id="136" name="Google Shape;13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6874" y="3256088"/>
            <a:ext cx="1200052" cy="2665626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50000" stPos="0" sy="-100000" ky="0"/>
          </a:effectLst>
        </p:spPr>
      </p:pic>
      <p:pic>
        <p:nvPicPr>
          <p:cNvPr id="137" name="Google Shape;13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83753" y="3813384"/>
            <a:ext cx="4399594" cy="1841574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50000" stPos="0" sy="-100000" ky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-1407250" y="779675"/>
            <a:ext cx="11225400" cy="1264200"/>
          </a:xfrm>
          <a:prstGeom prst="roundRect">
            <a:avLst>
              <a:gd fmla="val 41096" name="adj"/>
            </a:avLst>
          </a:prstGeom>
          <a:solidFill>
            <a:srgbClr val="4E33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16"/>
          <p:cNvGrpSpPr/>
          <p:nvPr/>
        </p:nvGrpSpPr>
        <p:grpSpPr>
          <a:xfrm>
            <a:off x="15116269" y="9589521"/>
            <a:ext cx="1943649" cy="1943649"/>
            <a:chOff x="0" y="0"/>
            <a:chExt cx="812800" cy="812800"/>
          </a:xfrm>
        </p:grpSpPr>
        <p:sp>
          <p:nvSpPr>
            <p:cNvPr id="144" name="Google Shape;144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6"/>
          <p:cNvGrpSpPr/>
          <p:nvPr/>
        </p:nvGrpSpPr>
        <p:grpSpPr>
          <a:xfrm>
            <a:off x="16786255" y="9040801"/>
            <a:ext cx="548721" cy="548721"/>
            <a:chOff x="0" y="0"/>
            <a:chExt cx="812800" cy="812800"/>
          </a:xfrm>
        </p:grpSpPr>
        <p:sp>
          <p:nvSpPr>
            <p:cNvPr id="147" name="Google Shape;147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6"/>
          <p:cNvSpPr txBox="1"/>
          <p:nvPr/>
        </p:nvSpPr>
        <p:spPr>
          <a:xfrm>
            <a:off x="1028700" y="952625"/>
            <a:ext cx="150762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lang="en-US" sz="59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Pourquoi ça marche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0" name="Google Shape;150;p16"/>
          <p:cNvGrpSpPr/>
          <p:nvPr/>
        </p:nvGrpSpPr>
        <p:grpSpPr>
          <a:xfrm>
            <a:off x="17316161" y="249565"/>
            <a:ext cx="1943649" cy="1943649"/>
            <a:chOff x="0" y="0"/>
            <a:chExt cx="812800" cy="812800"/>
          </a:xfrm>
        </p:grpSpPr>
        <p:sp>
          <p:nvSpPr>
            <p:cNvPr id="151" name="Google Shape;151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6"/>
          <p:cNvGrpSpPr/>
          <p:nvPr/>
        </p:nvGrpSpPr>
        <p:grpSpPr>
          <a:xfrm>
            <a:off x="16710580" y="1777272"/>
            <a:ext cx="548721" cy="548721"/>
            <a:chOff x="0" y="0"/>
            <a:chExt cx="812800" cy="812800"/>
          </a:xfrm>
        </p:grpSpPr>
        <p:sp>
          <p:nvSpPr>
            <p:cNvPr id="154" name="Google Shape;154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6"/>
          <p:cNvGrpSpPr/>
          <p:nvPr/>
        </p:nvGrpSpPr>
        <p:grpSpPr>
          <a:xfrm>
            <a:off x="1144150" y="3653088"/>
            <a:ext cx="15642101" cy="3778500"/>
            <a:chOff x="1146918" y="3340000"/>
            <a:chExt cx="16167546" cy="3778500"/>
          </a:xfrm>
        </p:grpSpPr>
        <p:sp>
          <p:nvSpPr>
            <p:cNvPr id="157" name="Google Shape;157;p16"/>
            <p:cNvSpPr/>
            <p:nvPr/>
          </p:nvSpPr>
          <p:spPr>
            <a:xfrm>
              <a:off x="5190367" y="3340000"/>
              <a:ext cx="3805500" cy="3778500"/>
            </a:xfrm>
            <a:prstGeom prst="roundRect">
              <a:avLst>
                <a:gd fmla="val 16667" name="adj"/>
              </a:avLst>
            </a:prstGeom>
            <a:solidFill>
              <a:srgbClr val="978EC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Transformer chaque perturbation en </a:t>
              </a:r>
              <a:r>
                <a:rPr lang="en-US" sz="2500" u="sng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opportunité</a:t>
              </a:r>
              <a:r>
                <a:rPr lang="en-US" sz="25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de mobilité durable.</a:t>
              </a:r>
              <a:endParaRPr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1146918" y="3340000"/>
              <a:ext cx="3805500" cy="3778500"/>
            </a:xfrm>
            <a:prstGeom prst="roundRect">
              <a:avLst>
                <a:gd fmla="val 16667" name="adj"/>
              </a:avLst>
            </a:prstGeom>
            <a:solidFill>
              <a:srgbClr val="C5346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u="sng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Prédire</a:t>
              </a:r>
              <a:r>
                <a:rPr lang="en-US" sz="25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les retards et les perturbations  grâce à l’anticipation IA.</a:t>
              </a:r>
              <a:endParaRPr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9233816" y="3340000"/>
              <a:ext cx="3805500" cy="3778500"/>
            </a:xfrm>
            <a:prstGeom prst="roundRect">
              <a:avLst>
                <a:gd fmla="val 16667" name="adj"/>
              </a:avLst>
            </a:prstGeom>
            <a:solidFill>
              <a:srgbClr val="88BCF5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Faciliter la </a:t>
              </a:r>
              <a:r>
                <a:rPr lang="en-US" sz="2500" u="sng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transition</a:t>
              </a:r>
              <a:r>
                <a:rPr lang="en-US" sz="25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vers des habitudes de mobilité éco-responsable grâce à la gamification.</a:t>
              </a:r>
              <a:endParaRPr sz="2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13508964" y="3340000"/>
              <a:ext cx="3805500" cy="3778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Développer un </a:t>
              </a:r>
              <a:r>
                <a:rPr lang="en-US" sz="2500" u="sng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modèle de données</a:t>
              </a:r>
              <a:r>
                <a:rPr lang="en-US" sz="25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plus fiable pour le reporting RSE.</a:t>
              </a:r>
              <a:endParaRPr sz="2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61" name="Google Shape;161;p16"/>
          <p:cNvGrpSpPr/>
          <p:nvPr/>
        </p:nvGrpSpPr>
        <p:grpSpPr>
          <a:xfrm>
            <a:off x="10269684" y="638761"/>
            <a:ext cx="2018508" cy="1363467"/>
            <a:chOff x="0" y="-47625"/>
            <a:chExt cx="531620" cy="359100"/>
          </a:xfrm>
        </p:grpSpPr>
        <p:sp>
          <p:nvSpPr>
            <p:cNvPr id="162" name="Google Shape;162;p16"/>
            <p:cNvSpPr/>
            <p:nvPr/>
          </p:nvSpPr>
          <p:spPr>
            <a:xfrm>
              <a:off x="0" y="0"/>
              <a:ext cx="531620" cy="311326"/>
            </a:xfrm>
            <a:custGeom>
              <a:rect b="b" l="l" r="r" t="t"/>
              <a:pathLst>
                <a:path extrusionOk="0" h="311326" w="531620">
                  <a:moveTo>
                    <a:pt x="155663" y="0"/>
                  </a:moveTo>
                  <a:lnTo>
                    <a:pt x="375957" y="0"/>
                  </a:lnTo>
                  <a:cubicBezTo>
                    <a:pt x="417242" y="0"/>
                    <a:pt x="456835" y="16400"/>
                    <a:pt x="486028" y="45593"/>
                  </a:cubicBezTo>
                  <a:cubicBezTo>
                    <a:pt x="515220" y="74785"/>
                    <a:pt x="531620" y="114378"/>
                    <a:pt x="531620" y="155663"/>
                  </a:cubicBezTo>
                  <a:lnTo>
                    <a:pt x="531620" y="155663"/>
                  </a:lnTo>
                  <a:cubicBezTo>
                    <a:pt x="531620" y="241633"/>
                    <a:pt x="461928" y="311326"/>
                    <a:pt x="375957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0" y="-47625"/>
              <a:ext cx="5316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6"/>
          <p:cNvGrpSpPr/>
          <p:nvPr/>
        </p:nvGrpSpPr>
        <p:grpSpPr>
          <a:xfrm>
            <a:off x="12564404" y="638761"/>
            <a:ext cx="1183494" cy="1363467"/>
            <a:chOff x="0" y="-47625"/>
            <a:chExt cx="311700" cy="359100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0"/>
              <a:ext cx="311685" cy="311326"/>
            </a:xfrm>
            <a:custGeom>
              <a:rect b="b" l="l" r="r" t="t"/>
              <a:pathLst>
                <a:path extrusionOk="0" h="311326" w="311685">
                  <a:moveTo>
                    <a:pt x="155663" y="0"/>
                  </a:moveTo>
                  <a:lnTo>
                    <a:pt x="156023" y="0"/>
                  </a:lnTo>
                  <a:cubicBezTo>
                    <a:pt x="241993" y="0"/>
                    <a:pt x="311685" y="69693"/>
                    <a:pt x="311685" y="155663"/>
                  </a:cubicBezTo>
                  <a:lnTo>
                    <a:pt x="311685" y="155663"/>
                  </a:lnTo>
                  <a:cubicBezTo>
                    <a:pt x="311685" y="196947"/>
                    <a:pt x="295285" y="236541"/>
                    <a:pt x="266093" y="265733"/>
                  </a:cubicBezTo>
                  <a:cubicBezTo>
                    <a:pt x="236900" y="294925"/>
                    <a:pt x="197307" y="311326"/>
                    <a:pt x="156023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9B8F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0" y="-47625"/>
              <a:ext cx="3117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D2DD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/>
        </p:nvSpPr>
        <p:spPr>
          <a:xfrm>
            <a:off x="-1407250" y="779675"/>
            <a:ext cx="16078500" cy="1264200"/>
          </a:xfrm>
          <a:prstGeom prst="roundRect">
            <a:avLst>
              <a:gd fmla="val 41096" name="adj"/>
            </a:avLst>
          </a:prstGeom>
          <a:solidFill>
            <a:srgbClr val="6FB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17"/>
          <p:cNvGrpSpPr/>
          <p:nvPr/>
        </p:nvGrpSpPr>
        <p:grpSpPr>
          <a:xfrm>
            <a:off x="15116269" y="9589521"/>
            <a:ext cx="1943649" cy="1943649"/>
            <a:chOff x="0" y="0"/>
            <a:chExt cx="812800" cy="812800"/>
          </a:xfrm>
        </p:grpSpPr>
        <p:sp>
          <p:nvSpPr>
            <p:cNvPr id="173" name="Google Shape;173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16786255" y="9040801"/>
            <a:ext cx="548721" cy="548721"/>
            <a:chOff x="0" y="0"/>
            <a:chExt cx="812800" cy="8128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17316161" y="630565"/>
            <a:ext cx="1943649" cy="1943649"/>
            <a:chOff x="0" y="0"/>
            <a:chExt cx="812800" cy="812800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7"/>
          <p:cNvGrpSpPr/>
          <p:nvPr/>
        </p:nvGrpSpPr>
        <p:grpSpPr>
          <a:xfrm>
            <a:off x="16710580" y="2158272"/>
            <a:ext cx="548721" cy="548721"/>
            <a:chOff x="0" y="0"/>
            <a:chExt cx="812800" cy="812800"/>
          </a:xfrm>
        </p:grpSpPr>
        <p:sp>
          <p:nvSpPr>
            <p:cNvPr id="182" name="Google Shape;182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7"/>
          <p:cNvSpPr txBox="1"/>
          <p:nvPr/>
        </p:nvSpPr>
        <p:spPr>
          <a:xfrm>
            <a:off x="1014300" y="952625"/>
            <a:ext cx="12434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lang="en-US" sz="59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Parcours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1014300" y="3486973"/>
            <a:ext cx="3067500" cy="3147900"/>
          </a:xfrm>
          <a:prstGeom prst="roundRect">
            <a:avLst>
              <a:gd fmla="val 16667" name="adj"/>
            </a:avLst>
          </a:prstGeom>
          <a:solidFill>
            <a:srgbClr val="C53467"/>
          </a:solidFill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L’entreprise invite ses collaborateurs à utiliser Predict.mob</a:t>
            </a:r>
            <a:r>
              <a:rPr lang="en-US" sz="174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, </a:t>
            </a:r>
            <a:r>
              <a:rPr lang="en-US" sz="1332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avec des opportunités de gagner des prix, et de développer des rivalries entre équipes</a:t>
            </a:r>
            <a:endParaRPr sz="1332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366469" y="4786560"/>
            <a:ext cx="3067500" cy="3147900"/>
          </a:xfrm>
          <a:prstGeom prst="roundRect">
            <a:avLst>
              <a:gd fmla="val 16667" name="adj"/>
            </a:avLst>
          </a:prstGeom>
          <a:solidFill>
            <a:srgbClr val="C53467"/>
          </a:solidFill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9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Les collaborateurs de l’entreprise utilisent l’appli pour suivre leurs habitudes de mobilité. </a:t>
            </a:r>
            <a:endParaRPr sz="1332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7718644" y="3486973"/>
            <a:ext cx="3067500" cy="3147900"/>
          </a:xfrm>
          <a:prstGeom prst="roundRect">
            <a:avLst>
              <a:gd fmla="val 16667" name="adj"/>
            </a:avLst>
          </a:prstGeom>
          <a:solidFill>
            <a:srgbClr val="C53467"/>
          </a:solidFill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 service est capable d’anticiper des perturbations, en avise les usagers par notification, et propose des trajets alternatifs.</a:t>
            </a:r>
            <a:endParaRPr sz="1332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11070819" y="4786560"/>
            <a:ext cx="3067500" cy="3147900"/>
          </a:xfrm>
          <a:prstGeom prst="roundRect">
            <a:avLst>
              <a:gd fmla="val 16667" name="adj"/>
            </a:avLst>
          </a:prstGeom>
          <a:solidFill>
            <a:srgbClr val="C53467"/>
          </a:solidFill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9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Lors de perturbations, l’usager est incité, ou </a:t>
            </a:r>
            <a:r>
              <a:rPr lang="en-US" sz="174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« </a:t>
            </a:r>
            <a:r>
              <a:rPr lang="en-US" sz="174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nudgé », à choisir des trajets alternatifs et éco-responsables offrant des points échangeables pour des cadeaux.</a:t>
            </a:r>
            <a:endParaRPr sz="1332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14422994" y="3486973"/>
            <a:ext cx="3067500" cy="3147900"/>
          </a:xfrm>
          <a:prstGeom prst="roundRect">
            <a:avLst>
              <a:gd fmla="val 16667" name="adj"/>
            </a:avLst>
          </a:prstGeom>
          <a:solidFill>
            <a:srgbClr val="C53467"/>
          </a:solidFill>
          <a:ln>
            <a:noFill/>
          </a:ln>
        </p:spPr>
        <p:txBody>
          <a:bodyPr anchorCtr="0" anchor="t" bIns="76175" lIns="76175" spcFirstLastPara="1" rIns="76175" wrap="square" tIns="76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nouvelles habitudes se forment, et les données guident les comportements, l’exploitation des transports et les décisions.</a:t>
            </a:r>
            <a:endParaRPr sz="1332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90" name="Google Shape;190;p17"/>
          <p:cNvGrpSpPr/>
          <p:nvPr/>
        </p:nvGrpSpPr>
        <p:grpSpPr>
          <a:xfrm>
            <a:off x="5463350" y="2809047"/>
            <a:ext cx="1875751" cy="1686678"/>
            <a:chOff x="5341375" y="2910147"/>
            <a:chExt cx="1875751" cy="1686678"/>
          </a:xfrm>
        </p:grpSpPr>
        <p:sp>
          <p:nvSpPr>
            <p:cNvPr id="191" name="Google Shape;191;p17"/>
            <p:cNvSpPr/>
            <p:nvPr/>
          </p:nvSpPr>
          <p:spPr>
            <a:xfrm>
              <a:off x="5661626" y="3041325"/>
              <a:ext cx="1555500" cy="1555500"/>
            </a:xfrm>
            <a:prstGeom prst="roundRect">
              <a:avLst>
                <a:gd fmla="val 16667" name="adj"/>
              </a:avLst>
            </a:pr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2" name="Google Shape;192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41375" y="2910147"/>
              <a:ext cx="1555500" cy="1555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" name="Google Shape;193;p17"/>
          <p:cNvGrpSpPr/>
          <p:nvPr/>
        </p:nvGrpSpPr>
        <p:grpSpPr>
          <a:xfrm>
            <a:off x="2163075" y="6503799"/>
            <a:ext cx="1849476" cy="1885413"/>
            <a:chOff x="2163075" y="5595749"/>
            <a:chExt cx="1849476" cy="1885413"/>
          </a:xfrm>
        </p:grpSpPr>
        <p:sp>
          <p:nvSpPr>
            <p:cNvPr id="194" name="Google Shape;194;p17"/>
            <p:cNvSpPr/>
            <p:nvPr/>
          </p:nvSpPr>
          <p:spPr>
            <a:xfrm>
              <a:off x="2457051" y="5925663"/>
              <a:ext cx="1555500" cy="1555500"/>
            </a:xfrm>
            <a:prstGeom prst="roundRect">
              <a:avLst>
                <a:gd fmla="val 16667" name="adj"/>
              </a:avLst>
            </a:pr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5" name="Google Shape;195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63075" y="5595749"/>
              <a:ext cx="1618550" cy="1618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17"/>
          <p:cNvGrpSpPr/>
          <p:nvPr/>
        </p:nvGrpSpPr>
        <p:grpSpPr>
          <a:xfrm>
            <a:off x="7787901" y="6712488"/>
            <a:ext cx="1792562" cy="1706229"/>
            <a:chOff x="7928351" y="5627263"/>
            <a:chExt cx="1792562" cy="1706229"/>
          </a:xfrm>
        </p:grpSpPr>
        <p:sp>
          <p:nvSpPr>
            <p:cNvPr id="197" name="Google Shape;197;p17"/>
            <p:cNvSpPr/>
            <p:nvPr/>
          </p:nvSpPr>
          <p:spPr>
            <a:xfrm>
              <a:off x="7928351" y="5627263"/>
              <a:ext cx="1555500" cy="1555500"/>
            </a:xfrm>
            <a:prstGeom prst="roundRect">
              <a:avLst>
                <a:gd fmla="val 16667" name="adj"/>
              </a:avLst>
            </a:pr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8" name="Google Shape;198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02364" y="5714942"/>
              <a:ext cx="1618550" cy="1618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17"/>
          <p:cNvGrpSpPr/>
          <p:nvPr/>
        </p:nvGrpSpPr>
        <p:grpSpPr>
          <a:xfrm>
            <a:off x="11070825" y="2809038"/>
            <a:ext cx="1912752" cy="1817875"/>
            <a:chOff x="11070825" y="2910138"/>
            <a:chExt cx="1912752" cy="1817875"/>
          </a:xfrm>
        </p:grpSpPr>
        <p:sp>
          <p:nvSpPr>
            <p:cNvPr id="200" name="Google Shape;200;p17"/>
            <p:cNvSpPr/>
            <p:nvPr/>
          </p:nvSpPr>
          <p:spPr>
            <a:xfrm>
              <a:off x="11428076" y="3037250"/>
              <a:ext cx="1555500" cy="1555500"/>
            </a:xfrm>
            <a:prstGeom prst="roundRect">
              <a:avLst>
                <a:gd fmla="val 16667" name="adj"/>
              </a:avLst>
            </a:pr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1" name="Google Shape;201;p1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070825" y="2910138"/>
              <a:ext cx="1817875" cy="1817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17"/>
          <p:cNvGrpSpPr/>
          <p:nvPr/>
        </p:nvGrpSpPr>
        <p:grpSpPr>
          <a:xfrm>
            <a:off x="15897276" y="6852450"/>
            <a:ext cx="1593224" cy="1621775"/>
            <a:chOff x="15958526" y="5594137"/>
            <a:chExt cx="1593224" cy="1621775"/>
          </a:xfrm>
        </p:grpSpPr>
        <p:sp>
          <p:nvSpPr>
            <p:cNvPr id="203" name="Google Shape;203;p17"/>
            <p:cNvSpPr/>
            <p:nvPr/>
          </p:nvSpPr>
          <p:spPr>
            <a:xfrm>
              <a:off x="15958526" y="5660413"/>
              <a:ext cx="1555500" cy="1555500"/>
            </a:xfrm>
            <a:prstGeom prst="roundRect">
              <a:avLst>
                <a:gd fmla="val 16667" name="adj"/>
              </a:avLst>
            </a:pr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4" name="Google Shape;204;p1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6228375" y="5594137"/>
              <a:ext cx="1323375" cy="1323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18"/>
          <p:cNvCxnSpPr>
            <a:stCxn id="210" idx="0"/>
            <a:endCxn id="211" idx="2"/>
          </p:cNvCxnSpPr>
          <p:nvPr/>
        </p:nvCxnSpPr>
        <p:spPr>
          <a:xfrm rot="10800000">
            <a:off x="7675248" y="7518813"/>
            <a:ext cx="0" cy="15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18"/>
          <p:cNvSpPr/>
          <p:nvPr/>
        </p:nvSpPr>
        <p:spPr>
          <a:xfrm>
            <a:off x="4944900" y="2087400"/>
            <a:ext cx="10112700" cy="67131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2144">
              <a:solidFill>
                <a:srgbClr val="2E509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213" name="Google Shape;213;p18"/>
          <p:cNvCxnSpPr>
            <a:stCxn id="214" idx="2"/>
            <a:endCxn id="215" idx="0"/>
          </p:cNvCxnSpPr>
          <p:nvPr/>
        </p:nvCxnSpPr>
        <p:spPr>
          <a:xfrm flipH="1" rot="10800000">
            <a:off x="11728316" y="3824249"/>
            <a:ext cx="1845000" cy="1373400"/>
          </a:xfrm>
          <a:prstGeom prst="straightConnector1">
            <a:avLst/>
          </a:prstGeom>
          <a:noFill/>
          <a:ln cap="flat" cmpd="sng" w="6037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3766">
              <a:srgbClr val="000000">
                <a:alpha val="37650"/>
              </a:srgbClr>
            </a:outerShdw>
          </a:effectLst>
        </p:spPr>
      </p:cxnSp>
      <p:cxnSp>
        <p:nvCxnSpPr>
          <p:cNvPr id="216" name="Google Shape;216;p18"/>
          <p:cNvCxnSpPr>
            <a:stCxn id="214" idx="2"/>
            <a:endCxn id="217" idx="1"/>
          </p:cNvCxnSpPr>
          <p:nvPr/>
        </p:nvCxnSpPr>
        <p:spPr>
          <a:xfrm>
            <a:off x="11728316" y="5197649"/>
            <a:ext cx="664200" cy="758700"/>
          </a:xfrm>
          <a:prstGeom prst="straightConnector1">
            <a:avLst/>
          </a:prstGeom>
          <a:noFill/>
          <a:ln cap="flat" cmpd="sng" w="6037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3766">
              <a:srgbClr val="000000">
                <a:alpha val="37650"/>
              </a:srgbClr>
            </a:outerShdw>
          </a:effectLst>
        </p:spPr>
      </p:cxnSp>
      <p:grpSp>
        <p:nvGrpSpPr>
          <p:cNvPr id="218" name="Google Shape;218;p18"/>
          <p:cNvGrpSpPr/>
          <p:nvPr/>
        </p:nvGrpSpPr>
        <p:grpSpPr>
          <a:xfrm>
            <a:off x="17819294" y="8534821"/>
            <a:ext cx="1943649" cy="1943649"/>
            <a:chOff x="0" y="0"/>
            <a:chExt cx="812800" cy="812800"/>
          </a:xfrm>
        </p:grpSpPr>
        <p:sp>
          <p:nvSpPr>
            <p:cNvPr id="219" name="Google Shape;219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8"/>
          <p:cNvGrpSpPr/>
          <p:nvPr/>
        </p:nvGrpSpPr>
        <p:grpSpPr>
          <a:xfrm>
            <a:off x="16786255" y="8964601"/>
            <a:ext cx="548721" cy="548721"/>
            <a:chOff x="0" y="0"/>
            <a:chExt cx="812800" cy="812800"/>
          </a:xfrm>
        </p:grpSpPr>
        <p:sp>
          <p:nvSpPr>
            <p:cNvPr id="222" name="Google Shape;222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8"/>
          <p:cNvGrpSpPr/>
          <p:nvPr/>
        </p:nvGrpSpPr>
        <p:grpSpPr>
          <a:xfrm>
            <a:off x="17316161" y="630565"/>
            <a:ext cx="1943649" cy="1943649"/>
            <a:chOff x="0" y="0"/>
            <a:chExt cx="812800" cy="812800"/>
          </a:xfrm>
        </p:grpSpPr>
        <p:sp>
          <p:nvSpPr>
            <p:cNvPr id="225" name="Google Shape;225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18"/>
          <p:cNvGrpSpPr/>
          <p:nvPr/>
        </p:nvGrpSpPr>
        <p:grpSpPr>
          <a:xfrm>
            <a:off x="16710580" y="2158272"/>
            <a:ext cx="548721" cy="548721"/>
            <a:chOff x="0" y="0"/>
            <a:chExt cx="812800" cy="812800"/>
          </a:xfrm>
        </p:grpSpPr>
        <p:sp>
          <p:nvSpPr>
            <p:cNvPr id="228" name="Google Shape;228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18"/>
          <p:cNvSpPr/>
          <p:nvPr/>
        </p:nvSpPr>
        <p:spPr>
          <a:xfrm>
            <a:off x="431700" y="3727217"/>
            <a:ext cx="3397200" cy="2949000"/>
          </a:xfrm>
          <a:prstGeom prst="roundRect">
            <a:avLst>
              <a:gd fmla="val 16667" name="adj"/>
            </a:avLst>
          </a:prstGeom>
          <a:solidFill>
            <a:srgbClr val="E8F4F8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44" u="none" cap="none" strike="noStrike">
                <a:solidFill>
                  <a:srgbClr val="2E50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SOURCES DE DONNÉES</a:t>
            </a:r>
            <a:endParaRPr sz="2263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44" u="none" cap="none" strike="noStrike">
                <a:solidFill>
                  <a:srgbClr val="2E5090"/>
                </a:solidFill>
                <a:latin typeface="Poppins"/>
                <a:ea typeface="Poppins"/>
                <a:cs typeface="Poppins"/>
                <a:sym typeface="Poppins"/>
              </a:rPr>
              <a:t>PRIM  •  GTFS/RT  •  Météo France  •  SIRENE</a:t>
            </a:r>
            <a:endParaRPr sz="2263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31" name="Google Shape;231;p18"/>
          <p:cNvCxnSpPr>
            <a:stCxn id="230" idx="3"/>
            <a:endCxn id="211" idx="1"/>
          </p:cNvCxnSpPr>
          <p:nvPr/>
        </p:nvCxnSpPr>
        <p:spPr>
          <a:xfrm flipH="1" rot="10800000">
            <a:off x="3828900" y="5197517"/>
            <a:ext cx="1728600" cy="4200"/>
          </a:xfrm>
          <a:prstGeom prst="straightConnector1">
            <a:avLst/>
          </a:prstGeom>
          <a:noFill/>
          <a:ln cap="flat" cmpd="sng" w="6037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3766">
              <a:srgbClr val="000000">
                <a:alpha val="37650"/>
              </a:srgbClr>
            </a:outerShdw>
          </a:effectLst>
        </p:spPr>
      </p:cxnSp>
      <p:sp>
        <p:nvSpPr>
          <p:cNvPr id="211" name="Google Shape;211;p18"/>
          <p:cNvSpPr/>
          <p:nvPr/>
        </p:nvSpPr>
        <p:spPr>
          <a:xfrm>
            <a:off x="5557550" y="2876550"/>
            <a:ext cx="4235400" cy="4642200"/>
          </a:xfrm>
          <a:prstGeom prst="roundRect">
            <a:avLst>
              <a:gd fmla="val 8534" name="adj"/>
            </a:avLst>
          </a:prstGeom>
          <a:solidFill>
            <a:srgbClr val="D5E8F0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t" bIns="54300" lIns="108650" spcFirstLastPara="1" rIns="108650" wrap="square" tIns="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144">
                <a:solidFill>
                  <a:srgbClr val="2E50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MOTEUR</a:t>
            </a:r>
            <a:r>
              <a:rPr lang="en-US" sz="2144">
                <a:solidFill>
                  <a:srgbClr val="2E50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PRÉDICTION </a:t>
            </a:r>
            <a:br>
              <a:rPr lang="en-US" sz="2144">
                <a:solidFill>
                  <a:srgbClr val="2E50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 sz="2144">
                <a:solidFill>
                  <a:srgbClr val="2E509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ET DE SUGGESTIONS</a:t>
            </a:r>
            <a:endParaRPr sz="2144">
              <a:solidFill>
                <a:srgbClr val="2E509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5829300" y="3896100"/>
            <a:ext cx="3803100" cy="161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PRÉDICTION</a:t>
            </a:r>
            <a:endParaRPr sz="1663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XGBoost + ML</a:t>
            </a:r>
            <a:endParaRPr sz="1663"/>
          </a:p>
        </p:txBody>
      </p:sp>
      <p:sp>
        <p:nvSpPr>
          <p:cNvPr id="233" name="Google Shape;233;p18"/>
          <p:cNvSpPr/>
          <p:nvPr/>
        </p:nvSpPr>
        <p:spPr>
          <a:xfrm>
            <a:off x="5829300" y="5585910"/>
            <a:ext cx="3803100" cy="64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HOTSPOTS</a:t>
            </a:r>
            <a:endParaRPr sz="1663">
              <a:solidFill>
                <a:schemeClr val="accent6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Aggrégation</a:t>
            </a:r>
            <a:endParaRPr sz="1663">
              <a:solidFill>
                <a:schemeClr val="accent6"/>
              </a:solidFill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829300" y="6305718"/>
            <a:ext cx="3803100" cy="73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RSE</a:t>
            </a:r>
            <a:endParaRPr sz="1663">
              <a:solidFill>
                <a:schemeClr val="accent6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Calcul CO₂</a:t>
            </a:r>
            <a:endParaRPr sz="1663">
              <a:solidFill>
                <a:schemeClr val="accent6"/>
              </a:solidFill>
            </a:endParaRPr>
          </a:p>
        </p:txBody>
      </p:sp>
      <p:cxnSp>
        <p:nvCxnSpPr>
          <p:cNvPr id="235" name="Google Shape;235;p18"/>
          <p:cNvCxnSpPr>
            <a:stCxn id="211" idx="3"/>
            <a:endCxn id="214" idx="0"/>
          </p:cNvCxnSpPr>
          <p:nvPr/>
        </p:nvCxnSpPr>
        <p:spPr>
          <a:xfrm>
            <a:off x="9792950" y="5197650"/>
            <a:ext cx="664200" cy="0"/>
          </a:xfrm>
          <a:prstGeom prst="straightConnector1">
            <a:avLst/>
          </a:prstGeom>
          <a:noFill/>
          <a:ln cap="flat" cmpd="sng" w="6037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3766">
              <a:srgbClr val="000000">
                <a:alpha val="37650"/>
              </a:srgbClr>
            </a:outerShdw>
          </a:effectLst>
        </p:spPr>
      </p:cxnSp>
      <p:sp>
        <p:nvSpPr>
          <p:cNvPr id="214" name="Google Shape;214;p18"/>
          <p:cNvSpPr/>
          <p:nvPr/>
        </p:nvSpPr>
        <p:spPr>
          <a:xfrm rot="-5400000">
            <a:off x="8655116" y="4562099"/>
            <a:ext cx="4875300" cy="12711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4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API FASTAPI + Swagger UI</a:t>
            </a:r>
            <a:endParaRPr sz="2144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236" name="Google Shape;236;p18"/>
          <p:cNvGrpSpPr/>
          <p:nvPr/>
        </p:nvGrpSpPr>
        <p:grpSpPr>
          <a:xfrm>
            <a:off x="12392598" y="3824388"/>
            <a:ext cx="2361608" cy="2675375"/>
            <a:chOff x="12392598" y="3824388"/>
            <a:chExt cx="2361608" cy="2675375"/>
          </a:xfrm>
        </p:grpSpPr>
        <p:sp>
          <p:nvSpPr>
            <p:cNvPr id="215" name="Google Shape;215;p18"/>
            <p:cNvSpPr/>
            <p:nvPr/>
          </p:nvSpPr>
          <p:spPr>
            <a:xfrm>
              <a:off x="12392606" y="3824388"/>
              <a:ext cx="2361600" cy="1086600"/>
            </a:xfrm>
            <a:prstGeom prst="roundRect">
              <a:avLst>
                <a:gd fmla="val 16667" name="adj"/>
              </a:avLst>
            </a:prstGeom>
            <a:solidFill>
              <a:srgbClr val="70AD47"/>
            </a:solidFill>
            <a:ln cap="flat" cmpd="sng" w="302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7532" rotWithShape="0" dir="5400000" dist="27331">
                <a:srgbClr val="000000">
                  <a:alpha val="34900"/>
                </a:srgbClr>
              </a:outerShdw>
            </a:effectLst>
          </p:spPr>
          <p:txBody>
            <a:bodyPr anchorCtr="0" anchor="ctr" bIns="54300" lIns="108650" spcFirstLastPara="1" rIns="108650" wrap="square" tIns="543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 </a:t>
              </a:r>
              <a:r>
                <a:rPr b="1" lang="en-US" sz="1307">
                  <a:solidFill>
                    <a:srgbClr val="FFFFFF"/>
                  </a:solidFill>
                </a:rPr>
                <a:t>Mobile</a:t>
              </a:r>
              <a:r>
                <a:rPr b="1" i="0" lang="en-US" sz="130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SALARIÉ</a:t>
              </a:r>
              <a:endParaRPr sz="1663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Alertes + Alternatives</a:t>
              </a:r>
              <a:endParaRPr sz="1663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Gamification</a:t>
              </a:r>
              <a:endParaRPr sz="1663"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12392598" y="5413163"/>
              <a:ext cx="2361600" cy="1086600"/>
            </a:xfrm>
            <a:prstGeom prst="roundRect">
              <a:avLst>
                <a:gd fmla="val 16667" name="adj"/>
              </a:avLst>
            </a:prstGeom>
            <a:solidFill>
              <a:srgbClr val="70AD47"/>
            </a:solidFill>
            <a:ln cap="flat" cmpd="sng" w="302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7532" rotWithShape="0" dir="5400000" dist="27331">
                <a:srgbClr val="000000">
                  <a:alpha val="34900"/>
                </a:srgbClr>
              </a:outerShdw>
            </a:effectLst>
          </p:spPr>
          <p:txBody>
            <a:bodyPr anchorCtr="0" anchor="ctr" bIns="54300" lIns="108650" spcFirstLastPara="1" rIns="108650" wrap="square" tIns="543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307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BACK-OFFICE RH</a:t>
              </a:r>
              <a:endParaRPr sz="1663"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307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Dashboard RSE</a:t>
              </a:r>
              <a:endParaRPr sz="1663"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307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Export </a:t>
              </a:r>
              <a:r>
                <a:rPr lang="en-US" sz="1307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Multiformat</a:t>
              </a:r>
              <a:endParaRPr sz="1663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237" name="Google Shape;237;p18"/>
          <p:cNvSpPr/>
          <p:nvPr/>
        </p:nvSpPr>
        <p:spPr>
          <a:xfrm>
            <a:off x="5275750" y="7847750"/>
            <a:ext cx="9371700" cy="6426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44">
                <a:solidFill>
                  <a:srgbClr val="2E509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STACK TECHNIQUE</a:t>
            </a:r>
            <a:endParaRPr sz="166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88">
                <a:solidFill>
                  <a:srgbClr val="55555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Python 3.11  •  FastAPI  •  PostgreSQL 15  •  Streamlit  •  Docker Compose</a:t>
            </a:r>
            <a:endParaRPr sz="2138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238" name="Google Shape;238;p18"/>
          <p:cNvGrpSpPr/>
          <p:nvPr/>
        </p:nvGrpSpPr>
        <p:grpSpPr>
          <a:xfrm>
            <a:off x="4944907" y="9568927"/>
            <a:ext cx="1629716" cy="561398"/>
            <a:chOff x="12664507" y="8039415"/>
            <a:chExt cx="1629716" cy="561398"/>
          </a:xfrm>
        </p:grpSpPr>
        <p:sp>
          <p:nvSpPr>
            <p:cNvPr id="239" name="Google Shape;239;p18"/>
            <p:cNvSpPr/>
            <p:nvPr/>
          </p:nvSpPr>
          <p:spPr>
            <a:xfrm>
              <a:off x="12664507" y="8087565"/>
              <a:ext cx="162900" cy="162900"/>
            </a:xfrm>
            <a:prstGeom prst="ellipse">
              <a:avLst/>
            </a:prstGeom>
            <a:solidFill>
              <a:srgbClr val="4472C4"/>
            </a:solidFill>
            <a:ln cap="flat" cmpd="sng" w="113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7532" rotWithShape="0" dir="5400000" dist="27331">
                <a:srgbClr val="000000">
                  <a:alpha val="34900"/>
                </a:srgbClr>
              </a:outerShdw>
            </a:effectLst>
          </p:spPr>
          <p:txBody>
            <a:bodyPr anchorCtr="0" anchor="ctr" bIns="54300" lIns="108650" spcFirstLastPara="1" rIns="108650" wrap="square" tIns="543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8"/>
            <p:cNvSpPr txBox="1"/>
            <p:nvPr/>
          </p:nvSpPr>
          <p:spPr>
            <a:xfrm>
              <a:off x="12881824" y="8039415"/>
              <a:ext cx="1412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300" lIns="108650" spcFirstLastPara="1" rIns="108650" wrap="square" tIns="543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69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Opérationnel</a:t>
              </a:r>
              <a:endParaRPr sz="1663"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12664507" y="8359210"/>
              <a:ext cx="162900" cy="162900"/>
            </a:xfrm>
            <a:prstGeom prst="ellipse">
              <a:avLst/>
            </a:prstGeom>
            <a:solidFill>
              <a:srgbClr val="E67E22"/>
            </a:solidFill>
            <a:ln cap="flat" cmpd="sng" w="113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7532" rotWithShape="0" dir="5400000" dist="27331">
                <a:srgbClr val="000000">
                  <a:alpha val="34900"/>
                </a:srgbClr>
              </a:outerShdw>
            </a:effectLst>
          </p:spPr>
          <p:txBody>
            <a:bodyPr anchorCtr="0" anchor="ctr" bIns="54300" lIns="108650" spcFirstLastPara="1" rIns="108650" wrap="square" tIns="543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3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12881824" y="8326613"/>
              <a:ext cx="1412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300" lIns="108650" spcFirstLastPara="1" rIns="108650" wrap="square" tIns="543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69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Mock intelligent</a:t>
              </a:r>
              <a:endParaRPr sz="1663"/>
            </a:p>
          </p:txBody>
        </p:sp>
      </p:grpSp>
      <p:grpSp>
        <p:nvGrpSpPr>
          <p:cNvPr id="243" name="Google Shape;243;p18"/>
          <p:cNvGrpSpPr/>
          <p:nvPr/>
        </p:nvGrpSpPr>
        <p:grpSpPr>
          <a:xfrm>
            <a:off x="-1585061" y="847873"/>
            <a:ext cx="6527179" cy="1363467"/>
            <a:chOff x="0" y="-47625"/>
            <a:chExt cx="1719081" cy="359100"/>
          </a:xfrm>
        </p:grpSpPr>
        <p:sp>
          <p:nvSpPr>
            <p:cNvPr id="244" name="Google Shape;244;p18"/>
            <p:cNvSpPr/>
            <p:nvPr/>
          </p:nvSpPr>
          <p:spPr>
            <a:xfrm>
              <a:off x="0" y="0"/>
              <a:ext cx="1719081" cy="311326"/>
            </a:xfrm>
            <a:custGeom>
              <a:rect b="b" l="l" r="r" t="t"/>
              <a:pathLst>
                <a:path extrusionOk="0" h="311326" w="1719081">
                  <a:moveTo>
                    <a:pt x="118611" y="0"/>
                  </a:moveTo>
                  <a:lnTo>
                    <a:pt x="1600469" y="0"/>
                  </a:lnTo>
                  <a:cubicBezTo>
                    <a:pt x="1631927" y="0"/>
                    <a:pt x="1662096" y="12497"/>
                    <a:pt x="1684340" y="34740"/>
                  </a:cubicBezTo>
                  <a:cubicBezTo>
                    <a:pt x="1706584" y="56984"/>
                    <a:pt x="1719081" y="87154"/>
                    <a:pt x="1719081" y="118611"/>
                  </a:cubicBezTo>
                  <a:lnTo>
                    <a:pt x="1719081" y="192714"/>
                  </a:lnTo>
                  <a:cubicBezTo>
                    <a:pt x="1719081" y="224172"/>
                    <a:pt x="1706584" y="254341"/>
                    <a:pt x="1684340" y="276585"/>
                  </a:cubicBezTo>
                  <a:cubicBezTo>
                    <a:pt x="1662096" y="298829"/>
                    <a:pt x="1631927" y="311326"/>
                    <a:pt x="1600469" y="311326"/>
                  </a:cubicBezTo>
                  <a:lnTo>
                    <a:pt x="118611" y="311326"/>
                  </a:lnTo>
                  <a:cubicBezTo>
                    <a:pt x="87154" y="311326"/>
                    <a:pt x="56984" y="298829"/>
                    <a:pt x="34740" y="276585"/>
                  </a:cubicBezTo>
                  <a:cubicBezTo>
                    <a:pt x="12497" y="254341"/>
                    <a:pt x="0" y="224172"/>
                    <a:pt x="0" y="192714"/>
                  </a:cubicBezTo>
                  <a:lnTo>
                    <a:pt x="0" y="118611"/>
                  </a:lnTo>
                  <a:cubicBezTo>
                    <a:pt x="0" y="87154"/>
                    <a:pt x="12497" y="56984"/>
                    <a:pt x="34740" y="34740"/>
                  </a:cubicBezTo>
                  <a:cubicBezTo>
                    <a:pt x="56984" y="12497"/>
                    <a:pt x="87154" y="0"/>
                    <a:pt x="118611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0" y="-47625"/>
              <a:ext cx="17190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18"/>
          <p:cNvSpPr txBox="1"/>
          <p:nvPr/>
        </p:nvSpPr>
        <p:spPr>
          <a:xfrm>
            <a:off x="1014300" y="1160600"/>
            <a:ext cx="44502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lang="en-US" sz="59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Schemas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7" name="Google Shape;247;p18"/>
          <p:cNvGrpSpPr/>
          <p:nvPr/>
        </p:nvGrpSpPr>
        <p:grpSpPr>
          <a:xfrm>
            <a:off x="9978575" y="9513335"/>
            <a:ext cx="8229720" cy="672600"/>
            <a:chOff x="457200" y="6537960"/>
            <a:chExt cx="8229720" cy="672600"/>
          </a:xfrm>
        </p:grpSpPr>
        <p:sp>
          <p:nvSpPr>
            <p:cNvPr id="248" name="Google Shape;248;p18"/>
            <p:cNvSpPr txBox="1"/>
            <p:nvPr/>
          </p:nvSpPr>
          <p:spPr>
            <a:xfrm>
              <a:off x="457200" y="6537960"/>
              <a:ext cx="82296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2E5090"/>
                  </a:solidFill>
                  <a:latin typeface="Arial"/>
                  <a:ea typeface="Arial"/>
                  <a:cs typeface="Arial"/>
                  <a:sym typeface="Arial"/>
                </a:rPr>
                <a:t>Sources de données détaillées :</a:t>
              </a:r>
              <a:endParaRPr/>
            </a:p>
          </p:txBody>
        </p:sp>
        <p:sp>
          <p:nvSpPr>
            <p:cNvPr id="249" name="Google Shape;249;p18"/>
            <p:cNvSpPr txBox="1"/>
            <p:nvPr/>
          </p:nvSpPr>
          <p:spPr>
            <a:xfrm>
              <a:off x="457200" y="6720840"/>
              <a:ext cx="1645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Trajets SNCF :</a:t>
              </a:r>
              <a:endParaRPr/>
            </a:p>
          </p:txBody>
        </p:sp>
        <p:sp>
          <p:nvSpPr>
            <p:cNvPr id="250" name="Google Shape;250;p18"/>
            <p:cNvSpPr txBox="1"/>
            <p:nvPr/>
          </p:nvSpPr>
          <p:spPr>
            <a:xfrm>
              <a:off x="2103120" y="6720840"/>
              <a:ext cx="65838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" u="sng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datalab.data-platform-self-service.net/file-explorer/dlb-hackathon</a:t>
              </a:r>
              <a:endParaRPr/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457200" y="6858000"/>
              <a:ext cx="1645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Météo (temp. &amp; précip.) :</a:t>
              </a:r>
              <a:endParaRPr/>
            </a:p>
          </p:txBody>
        </p:sp>
        <p:sp>
          <p:nvSpPr>
            <p:cNvPr id="252" name="Google Shape;252;p18"/>
            <p:cNvSpPr txBox="1"/>
            <p:nvPr/>
          </p:nvSpPr>
          <p:spPr>
            <a:xfrm>
              <a:off x="2103120" y="6858000"/>
              <a:ext cx="65838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u="sng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datalab.data-platform-self-service.net/file-explorer/.../Meteo_France</a:t>
              </a:r>
              <a:endParaRPr/>
            </a:p>
          </p:txBody>
        </p:sp>
        <p:sp>
          <p:nvSpPr>
            <p:cNvPr id="253" name="Google Shape;253;p18"/>
            <p:cNvSpPr txBox="1"/>
            <p:nvPr/>
          </p:nvSpPr>
          <p:spPr>
            <a:xfrm>
              <a:off x="457200" y="6995160"/>
              <a:ext cx="1645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Vigilances météo :</a:t>
              </a:r>
              <a:endParaRPr/>
            </a:p>
          </p:txBody>
        </p:sp>
        <p:sp>
          <p:nvSpPr>
            <p:cNvPr id="254" name="Google Shape;254;p18"/>
            <p:cNvSpPr txBox="1"/>
            <p:nvPr/>
          </p:nvSpPr>
          <p:spPr>
            <a:xfrm>
              <a:off x="2103120" y="6995160"/>
              <a:ext cx="65838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u="sng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datalab.data-platform-self-service.net/file-explorer/.../Vigilance_meteo</a:t>
              </a:r>
              <a:endParaRPr/>
            </a:p>
          </p:txBody>
        </p:sp>
      </p:grpSp>
      <p:sp>
        <p:nvSpPr>
          <p:cNvPr id="255" name="Google Shape;255;p18"/>
          <p:cNvSpPr txBox="1"/>
          <p:nvPr/>
        </p:nvSpPr>
        <p:spPr>
          <a:xfrm>
            <a:off x="895350" y="8112800"/>
            <a:ext cx="194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(INPUT)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15483800" y="8112800"/>
            <a:ext cx="194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(OUPUT)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15361948" y="4774775"/>
            <a:ext cx="2361600" cy="10866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Feed Mobilité (par Entreprise)</a:t>
            </a:r>
            <a:endParaRPr sz="18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15361948" y="6051550"/>
            <a:ext cx="2361600" cy="10866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Feed Entreprises Franciliennes</a:t>
            </a:r>
            <a:endParaRPr sz="18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15361948" y="3265900"/>
            <a:ext cx="2361600" cy="10866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Changement de comportements</a:t>
            </a:r>
            <a:endParaRPr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5127300" y="2223775"/>
            <a:ext cx="1141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L’architecture technique de notre solution</a:t>
            </a:r>
            <a:endParaRPr sz="21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261" name="Google Shape;261;p18"/>
          <p:cNvCxnSpPr>
            <a:stCxn id="259" idx="1"/>
            <a:endCxn id="215" idx="3"/>
          </p:cNvCxnSpPr>
          <p:nvPr/>
        </p:nvCxnSpPr>
        <p:spPr>
          <a:xfrm flipH="1">
            <a:off x="14754148" y="3809200"/>
            <a:ext cx="607800" cy="55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18"/>
          <p:cNvCxnSpPr>
            <a:stCxn id="257" idx="1"/>
            <a:endCxn id="217" idx="3"/>
          </p:cNvCxnSpPr>
          <p:nvPr/>
        </p:nvCxnSpPr>
        <p:spPr>
          <a:xfrm flipH="1">
            <a:off x="14754148" y="5318075"/>
            <a:ext cx="607800" cy="6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18"/>
          <p:cNvCxnSpPr>
            <a:stCxn id="258" idx="1"/>
            <a:endCxn id="217" idx="3"/>
          </p:cNvCxnSpPr>
          <p:nvPr/>
        </p:nvCxnSpPr>
        <p:spPr>
          <a:xfrm rot="10800000">
            <a:off x="14754148" y="5956450"/>
            <a:ext cx="607800" cy="6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18"/>
          <p:cNvSpPr/>
          <p:nvPr/>
        </p:nvSpPr>
        <p:spPr>
          <a:xfrm>
            <a:off x="6494448" y="9082713"/>
            <a:ext cx="2361600" cy="10866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302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7532" rotWithShape="0" dir="5400000" dist="27331">
              <a:srgbClr val="000000">
                <a:alpha val="34900"/>
              </a:srgbClr>
            </a:outerShdw>
          </a:effectLst>
        </p:spPr>
        <p:txBody>
          <a:bodyPr anchorCtr="0" anchor="ctr" bIns="54300" lIns="108650" spcFirstLastPara="1" rIns="108650" wrap="square" tIns="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Mutualisation avec partenaires </a:t>
            </a:r>
            <a:r>
              <a:rPr lang="en-US" sz="11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(IDFM, Google, Citymapper, etc.)</a:t>
            </a:r>
            <a:endParaRPr sz="11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/>
          <p:cNvSpPr/>
          <p:nvPr/>
        </p:nvSpPr>
        <p:spPr>
          <a:xfrm>
            <a:off x="-125" y="0"/>
            <a:ext cx="18288000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B3B3B3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-1407250" y="779675"/>
            <a:ext cx="16078500" cy="1264200"/>
          </a:xfrm>
          <a:prstGeom prst="roundRect">
            <a:avLst>
              <a:gd fmla="val 41096" name="adj"/>
            </a:avLst>
          </a:prstGeom>
          <a:solidFill>
            <a:srgbClr val="6FB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p19"/>
          <p:cNvGrpSpPr/>
          <p:nvPr/>
        </p:nvGrpSpPr>
        <p:grpSpPr>
          <a:xfrm>
            <a:off x="15116269" y="9589521"/>
            <a:ext cx="1943649" cy="1943649"/>
            <a:chOff x="0" y="0"/>
            <a:chExt cx="812800" cy="812800"/>
          </a:xfrm>
        </p:grpSpPr>
        <p:sp>
          <p:nvSpPr>
            <p:cNvPr id="271" name="Google Shape;271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19"/>
          <p:cNvGrpSpPr/>
          <p:nvPr/>
        </p:nvGrpSpPr>
        <p:grpSpPr>
          <a:xfrm>
            <a:off x="16786255" y="9040801"/>
            <a:ext cx="548721" cy="548721"/>
            <a:chOff x="0" y="0"/>
            <a:chExt cx="812800" cy="812800"/>
          </a:xfrm>
        </p:grpSpPr>
        <p:sp>
          <p:nvSpPr>
            <p:cNvPr id="274" name="Google Shape;274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9"/>
          <p:cNvGrpSpPr/>
          <p:nvPr/>
        </p:nvGrpSpPr>
        <p:grpSpPr>
          <a:xfrm>
            <a:off x="17316161" y="630565"/>
            <a:ext cx="1943649" cy="1943649"/>
            <a:chOff x="0" y="0"/>
            <a:chExt cx="812800" cy="812800"/>
          </a:xfrm>
        </p:grpSpPr>
        <p:sp>
          <p:nvSpPr>
            <p:cNvPr id="277" name="Google Shape;27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9"/>
          <p:cNvGrpSpPr/>
          <p:nvPr/>
        </p:nvGrpSpPr>
        <p:grpSpPr>
          <a:xfrm>
            <a:off x="16710580" y="2158272"/>
            <a:ext cx="548721" cy="548721"/>
            <a:chOff x="0" y="0"/>
            <a:chExt cx="812800" cy="812800"/>
          </a:xfrm>
        </p:grpSpPr>
        <p:sp>
          <p:nvSpPr>
            <p:cNvPr id="280" name="Google Shape;280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19"/>
          <p:cNvSpPr txBox="1"/>
          <p:nvPr/>
        </p:nvSpPr>
        <p:spPr>
          <a:xfrm>
            <a:off x="1014300" y="952625"/>
            <a:ext cx="12434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i="0" lang="en-US" sz="596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Démo du </a:t>
            </a:r>
            <a:r>
              <a:rPr b="1" lang="en-US" sz="59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moteur de prédiction</a:t>
            </a:r>
            <a:r>
              <a:rPr b="1" i="0" lang="en-US" sz="596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3" name="Google Shape;2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17990"/>
            <a:ext cx="18288000" cy="3848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/>
          <p:nvPr/>
        </p:nvSpPr>
        <p:spPr>
          <a:xfrm>
            <a:off x="-125" y="0"/>
            <a:ext cx="18288000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B3B3B3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20"/>
          <p:cNvGrpSpPr/>
          <p:nvPr/>
        </p:nvGrpSpPr>
        <p:grpSpPr>
          <a:xfrm>
            <a:off x="-1585061" y="847873"/>
            <a:ext cx="6527179" cy="1363467"/>
            <a:chOff x="0" y="-47625"/>
            <a:chExt cx="1719081" cy="359100"/>
          </a:xfrm>
        </p:grpSpPr>
        <p:sp>
          <p:nvSpPr>
            <p:cNvPr id="290" name="Google Shape;290;p20"/>
            <p:cNvSpPr/>
            <p:nvPr/>
          </p:nvSpPr>
          <p:spPr>
            <a:xfrm>
              <a:off x="0" y="0"/>
              <a:ext cx="1719081" cy="311326"/>
            </a:xfrm>
            <a:custGeom>
              <a:rect b="b" l="l" r="r" t="t"/>
              <a:pathLst>
                <a:path extrusionOk="0" h="311326" w="1719081">
                  <a:moveTo>
                    <a:pt x="118611" y="0"/>
                  </a:moveTo>
                  <a:lnTo>
                    <a:pt x="1600469" y="0"/>
                  </a:lnTo>
                  <a:cubicBezTo>
                    <a:pt x="1631927" y="0"/>
                    <a:pt x="1662096" y="12497"/>
                    <a:pt x="1684340" y="34740"/>
                  </a:cubicBezTo>
                  <a:cubicBezTo>
                    <a:pt x="1706584" y="56984"/>
                    <a:pt x="1719081" y="87154"/>
                    <a:pt x="1719081" y="118611"/>
                  </a:cubicBezTo>
                  <a:lnTo>
                    <a:pt x="1719081" y="192714"/>
                  </a:lnTo>
                  <a:cubicBezTo>
                    <a:pt x="1719081" y="224172"/>
                    <a:pt x="1706584" y="254341"/>
                    <a:pt x="1684340" y="276585"/>
                  </a:cubicBezTo>
                  <a:cubicBezTo>
                    <a:pt x="1662096" y="298829"/>
                    <a:pt x="1631927" y="311326"/>
                    <a:pt x="1600469" y="311326"/>
                  </a:cubicBezTo>
                  <a:lnTo>
                    <a:pt x="118611" y="311326"/>
                  </a:lnTo>
                  <a:cubicBezTo>
                    <a:pt x="87154" y="311326"/>
                    <a:pt x="56984" y="298829"/>
                    <a:pt x="34740" y="276585"/>
                  </a:cubicBezTo>
                  <a:cubicBezTo>
                    <a:pt x="12497" y="254341"/>
                    <a:pt x="0" y="224172"/>
                    <a:pt x="0" y="192714"/>
                  </a:cubicBezTo>
                  <a:lnTo>
                    <a:pt x="0" y="118611"/>
                  </a:lnTo>
                  <a:cubicBezTo>
                    <a:pt x="0" y="87154"/>
                    <a:pt x="12497" y="56984"/>
                    <a:pt x="34740" y="34740"/>
                  </a:cubicBezTo>
                  <a:cubicBezTo>
                    <a:pt x="56984" y="12497"/>
                    <a:pt x="87154" y="0"/>
                    <a:pt x="118611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>
              <a:off x="0" y="-47625"/>
              <a:ext cx="17190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20"/>
          <p:cNvGrpSpPr/>
          <p:nvPr/>
        </p:nvGrpSpPr>
        <p:grpSpPr>
          <a:xfrm>
            <a:off x="1895823" y="2574226"/>
            <a:ext cx="1586620" cy="1363467"/>
            <a:chOff x="0" y="-47625"/>
            <a:chExt cx="531620" cy="359100"/>
          </a:xfrm>
        </p:grpSpPr>
        <p:sp>
          <p:nvSpPr>
            <p:cNvPr id="293" name="Google Shape;293;p20"/>
            <p:cNvSpPr/>
            <p:nvPr/>
          </p:nvSpPr>
          <p:spPr>
            <a:xfrm>
              <a:off x="0" y="0"/>
              <a:ext cx="531620" cy="311326"/>
            </a:xfrm>
            <a:custGeom>
              <a:rect b="b" l="l" r="r" t="t"/>
              <a:pathLst>
                <a:path extrusionOk="0" h="311326" w="531620">
                  <a:moveTo>
                    <a:pt x="155663" y="0"/>
                  </a:moveTo>
                  <a:lnTo>
                    <a:pt x="375957" y="0"/>
                  </a:lnTo>
                  <a:cubicBezTo>
                    <a:pt x="417242" y="0"/>
                    <a:pt x="456835" y="16400"/>
                    <a:pt x="486028" y="45593"/>
                  </a:cubicBezTo>
                  <a:cubicBezTo>
                    <a:pt x="515220" y="74785"/>
                    <a:pt x="531620" y="114378"/>
                    <a:pt x="531620" y="155663"/>
                  </a:cubicBezTo>
                  <a:lnTo>
                    <a:pt x="531620" y="155663"/>
                  </a:lnTo>
                  <a:cubicBezTo>
                    <a:pt x="531620" y="241633"/>
                    <a:pt x="461928" y="311326"/>
                    <a:pt x="375957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0"/>
            <p:cNvSpPr txBox="1"/>
            <p:nvPr/>
          </p:nvSpPr>
          <p:spPr>
            <a:xfrm>
              <a:off x="0" y="-47625"/>
              <a:ext cx="5316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20"/>
          <p:cNvGrpSpPr/>
          <p:nvPr/>
        </p:nvGrpSpPr>
        <p:grpSpPr>
          <a:xfrm>
            <a:off x="3758629" y="2574223"/>
            <a:ext cx="1183494" cy="1363467"/>
            <a:chOff x="0" y="-47625"/>
            <a:chExt cx="311700" cy="359100"/>
          </a:xfrm>
        </p:grpSpPr>
        <p:sp>
          <p:nvSpPr>
            <p:cNvPr id="296" name="Google Shape;296;p20"/>
            <p:cNvSpPr/>
            <p:nvPr/>
          </p:nvSpPr>
          <p:spPr>
            <a:xfrm>
              <a:off x="0" y="0"/>
              <a:ext cx="311685" cy="311326"/>
            </a:xfrm>
            <a:custGeom>
              <a:rect b="b" l="l" r="r" t="t"/>
              <a:pathLst>
                <a:path extrusionOk="0" h="311326" w="311685">
                  <a:moveTo>
                    <a:pt x="155663" y="0"/>
                  </a:moveTo>
                  <a:lnTo>
                    <a:pt x="156023" y="0"/>
                  </a:lnTo>
                  <a:cubicBezTo>
                    <a:pt x="241993" y="0"/>
                    <a:pt x="311685" y="69693"/>
                    <a:pt x="311685" y="155663"/>
                  </a:cubicBezTo>
                  <a:lnTo>
                    <a:pt x="311685" y="155663"/>
                  </a:lnTo>
                  <a:cubicBezTo>
                    <a:pt x="311685" y="196947"/>
                    <a:pt x="295285" y="236541"/>
                    <a:pt x="266093" y="265733"/>
                  </a:cubicBezTo>
                  <a:cubicBezTo>
                    <a:pt x="236900" y="294925"/>
                    <a:pt x="197307" y="311326"/>
                    <a:pt x="156023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9B8F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0"/>
            <p:cNvSpPr txBox="1"/>
            <p:nvPr/>
          </p:nvSpPr>
          <p:spPr>
            <a:xfrm>
              <a:off x="0" y="-47625"/>
              <a:ext cx="3117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20"/>
          <p:cNvGrpSpPr/>
          <p:nvPr/>
        </p:nvGrpSpPr>
        <p:grpSpPr>
          <a:xfrm>
            <a:off x="15116269" y="9589521"/>
            <a:ext cx="1943649" cy="1943649"/>
            <a:chOff x="0" y="0"/>
            <a:chExt cx="812800" cy="812800"/>
          </a:xfrm>
        </p:grpSpPr>
        <p:sp>
          <p:nvSpPr>
            <p:cNvPr id="299" name="Google Shape;299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20"/>
          <p:cNvGrpSpPr/>
          <p:nvPr/>
        </p:nvGrpSpPr>
        <p:grpSpPr>
          <a:xfrm>
            <a:off x="16786255" y="9040801"/>
            <a:ext cx="548721" cy="548721"/>
            <a:chOff x="0" y="0"/>
            <a:chExt cx="812800" cy="812800"/>
          </a:xfrm>
        </p:grpSpPr>
        <p:sp>
          <p:nvSpPr>
            <p:cNvPr id="302" name="Google Shape;302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20"/>
          <p:cNvGrpSpPr/>
          <p:nvPr/>
        </p:nvGrpSpPr>
        <p:grpSpPr>
          <a:xfrm>
            <a:off x="17316161" y="630565"/>
            <a:ext cx="1943649" cy="1943649"/>
            <a:chOff x="0" y="0"/>
            <a:chExt cx="812800" cy="81280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20"/>
          <p:cNvGrpSpPr/>
          <p:nvPr/>
        </p:nvGrpSpPr>
        <p:grpSpPr>
          <a:xfrm>
            <a:off x="16710580" y="2158272"/>
            <a:ext cx="548721" cy="548721"/>
            <a:chOff x="0" y="0"/>
            <a:chExt cx="812800" cy="812800"/>
          </a:xfrm>
        </p:grpSpPr>
        <p:sp>
          <p:nvSpPr>
            <p:cNvPr id="308" name="Google Shape;30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20"/>
          <p:cNvSpPr/>
          <p:nvPr/>
        </p:nvSpPr>
        <p:spPr>
          <a:xfrm>
            <a:off x="231323" y="2569239"/>
            <a:ext cx="1388333" cy="1373436"/>
          </a:xfrm>
          <a:custGeom>
            <a:rect b="b" l="l" r="r" t="t"/>
            <a:pathLst>
              <a:path extrusionOk="0" h="1373436" w="1388333">
                <a:moveTo>
                  <a:pt x="0" y="0"/>
                </a:moveTo>
                <a:lnTo>
                  <a:pt x="1388333" y="0"/>
                </a:lnTo>
                <a:lnTo>
                  <a:pt x="1388333" y="1373436"/>
                </a:lnTo>
                <a:lnTo>
                  <a:pt x="0" y="1373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1" name="Google Shape;311;p20"/>
          <p:cNvSpPr txBox="1"/>
          <p:nvPr/>
        </p:nvSpPr>
        <p:spPr>
          <a:xfrm>
            <a:off x="1014300" y="1160589"/>
            <a:ext cx="34788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lang="en-US" sz="59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L’appli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2" name="Google Shape;3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18947" y="384434"/>
            <a:ext cx="5106986" cy="11468349"/>
          </a:xfrm>
          <a:prstGeom prst="rect">
            <a:avLst/>
          </a:prstGeom>
          <a:noFill/>
          <a:ln>
            <a:noFill/>
          </a:ln>
          <a:effectLst>
            <a:outerShdw blurRad="470909" rotWithShape="0" algn="bl" dir="5400000" dist="25115">
              <a:srgbClr val="000000">
                <a:alpha val="50000"/>
              </a:srgbClr>
            </a:outerShdw>
          </a:effectLst>
        </p:spPr>
      </p:pic>
      <p:pic>
        <p:nvPicPr>
          <p:cNvPr id="313" name="Google Shape;3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2476" y="475700"/>
            <a:ext cx="4770972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"/>
          <p:cNvSpPr/>
          <p:nvPr/>
        </p:nvSpPr>
        <p:spPr>
          <a:xfrm>
            <a:off x="-125" y="0"/>
            <a:ext cx="18288000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B3B3B3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21"/>
          <p:cNvGrpSpPr/>
          <p:nvPr/>
        </p:nvGrpSpPr>
        <p:grpSpPr>
          <a:xfrm>
            <a:off x="-1585061" y="847873"/>
            <a:ext cx="6527179" cy="1363467"/>
            <a:chOff x="0" y="-47625"/>
            <a:chExt cx="1719081" cy="359100"/>
          </a:xfrm>
        </p:grpSpPr>
        <p:sp>
          <p:nvSpPr>
            <p:cNvPr id="320" name="Google Shape;320;p21"/>
            <p:cNvSpPr/>
            <p:nvPr/>
          </p:nvSpPr>
          <p:spPr>
            <a:xfrm>
              <a:off x="0" y="0"/>
              <a:ext cx="1719081" cy="311326"/>
            </a:xfrm>
            <a:custGeom>
              <a:rect b="b" l="l" r="r" t="t"/>
              <a:pathLst>
                <a:path extrusionOk="0" h="311326" w="1719081">
                  <a:moveTo>
                    <a:pt x="118611" y="0"/>
                  </a:moveTo>
                  <a:lnTo>
                    <a:pt x="1600469" y="0"/>
                  </a:lnTo>
                  <a:cubicBezTo>
                    <a:pt x="1631927" y="0"/>
                    <a:pt x="1662096" y="12497"/>
                    <a:pt x="1684340" y="34740"/>
                  </a:cubicBezTo>
                  <a:cubicBezTo>
                    <a:pt x="1706584" y="56984"/>
                    <a:pt x="1719081" y="87154"/>
                    <a:pt x="1719081" y="118611"/>
                  </a:cubicBezTo>
                  <a:lnTo>
                    <a:pt x="1719081" y="192714"/>
                  </a:lnTo>
                  <a:cubicBezTo>
                    <a:pt x="1719081" y="224172"/>
                    <a:pt x="1706584" y="254341"/>
                    <a:pt x="1684340" y="276585"/>
                  </a:cubicBezTo>
                  <a:cubicBezTo>
                    <a:pt x="1662096" y="298829"/>
                    <a:pt x="1631927" y="311326"/>
                    <a:pt x="1600469" y="311326"/>
                  </a:cubicBezTo>
                  <a:lnTo>
                    <a:pt x="118611" y="311326"/>
                  </a:lnTo>
                  <a:cubicBezTo>
                    <a:pt x="87154" y="311326"/>
                    <a:pt x="56984" y="298829"/>
                    <a:pt x="34740" y="276585"/>
                  </a:cubicBezTo>
                  <a:cubicBezTo>
                    <a:pt x="12497" y="254341"/>
                    <a:pt x="0" y="224172"/>
                    <a:pt x="0" y="192714"/>
                  </a:cubicBezTo>
                  <a:lnTo>
                    <a:pt x="0" y="118611"/>
                  </a:lnTo>
                  <a:cubicBezTo>
                    <a:pt x="0" y="87154"/>
                    <a:pt x="12497" y="56984"/>
                    <a:pt x="34740" y="34740"/>
                  </a:cubicBezTo>
                  <a:cubicBezTo>
                    <a:pt x="56984" y="12497"/>
                    <a:pt x="87154" y="0"/>
                    <a:pt x="118611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1"/>
            <p:cNvSpPr txBox="1"/>
            <p:nvPr/>
          </p:nvSpPr>
          <p:spPr>
            <a:xfrm>
              <a:off x="0" y="-47625"/>
              <a:ext cx="17190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21"/>
          <p:cNvGrpSpPr/>
          <p:nvPr/>
        </p:nvGrpSpPr>
        <p:grpSpPr>
          <a:xfrm>
            <a:off x="1895823" y="2574226"/>
            <a:ext cx="1586620" cy="1363467"/>
            <a:chOff x="0" y="-47625"/>
            <a:chExt cx="531620" cy="359100"/>
          </a:xfrm>
        </p:grpSpPr>
        <p:sp>
          <p:nvSpPr>
            <p:cNvPr id="323" name="Google Shape;323;p21"/>
            <p:cNvSpPr/>
            <p:nvPr/>
          </p:nvSpPr>
          <p:spPr>
            <a:xfrm>
              <a:off x="0" y="0"/>
              <a:ext cx="531620" cy="311326"/>
            </a:xfrm>
            <a:custGeom>
              <a:rect b="b" l="l" r="r" t="t"/>
              <a:pathLst>
                <a:path extrusionOk="0" h="311326" w="531620">
                  <a:moveTo>
                    <a:pt x="155663" y="0"/>
                  </a:moveTo>
                  <a:lnTo>
                    <a:pt x="375957" y="0"/>
                  </a:lnTo>
                  <a:cubicBezTo>
                    <a:pt x="417242" y="0"/>
                    <a:pt x="456835" y="16400"/>
                    <a:pt x="486028" y="45593"/>
                  </a:cubicBezTo>
                  <a:cubicBezTo>
                    <a:pt x="515220" y="74785"/>
                    <a:pt x="531620" y="114378"/>
                    <a:pt x="531620" y="155663"/>
                  </a:cubicBezTo>
                  <a:lnTo>
                    <a:pt x="531620" y="155663"/>
                  </a:lnTo>
                  <a:cubicBezTo>
                    <a:pt x="531620" y="241633"/>
                    <a:pt x="461928" y="311326"/>
                    <a:pt x="375957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1"/>
            <p:cNvSpPr txBox="1"/>
            <p:nvPr/>
          </p:nvSpPr>
          <p:spPr>
            <a:xfrm>
              <a:off x="0" y="-47625"/>
              <a:ext cx="5316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21"/>
          <p:cNvGrpSpPr/>
          <p:nvPr/>
        </p:nvGrpSpPr>
        <p:grpSpPr>
          <a:xfrm>
            <a:off x="3758629" y="2574223"/>
            <a:ext cx="1183494" cy="1363467"/>
            <a:chOff x="0" y="-47625"/>
            <a:chExt cx="311700" cy="359100"/>
          </a:xfrm>
        </p:grpSpPr>
        <p:sp>
          <p:nvSpPr>
            <p:cNvPr id="326" name="Google Shape;326;p21"/>
            <p:cNvSpPr/>
            <p:nvPr/>
          </p:nvSpPr>
          <p:spPr>
            <a:xfrm>
              <a:off x="0" y="0"/>
              <a:ext cx="311685" cy="311326"/>
            </a:xfrm>
            <a:custGeom>
              <a:rect b="b" l="l" r="r" t="t"/>
              <a:pathLst>
                <a:path extrusionOk="0" h="311326" w="311685">
                  <a:moveTo>
                    <a:pt x="155663" y="0"/>
                  </a:moveTo>
                  <a:lnTo>
                    <a:pt x="156023" y="0"/>
                  </a:lnTo>
                  <a:cubicBezTo>
                    <a:pt x="241993" y="0"/>
                    <a:pt x="311685" y="69693"/>
                    <a:pt x="311685" y="155663"/>
                  </a:cubicBezTo>
                  <a:lnTo>
                    <a:pt x="311685" y="155663"/>
                  </a:lnTo>
                  <a:cubicBezTo>
                    <a:pt x="311685" y="196947"/>
                    <a:pt x="295285" y="236541"/>
                    <a:pt x="266093" y="265733"/>
                  </a:cubicBezTo>
                  <a:cubicBezTo>
                    <a:pt x="236900" y="294925"/>
                    <a:pt x="197307" y="311326"/>
                    <a:pt x="156023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9B8F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0" y="-47625"/>
              <a:ext cx="3117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21"/>
          <p:cNvGrpSpPr/>
          <p:nvPr/>
        </p:nvGrpSpPr>
        <p:grpSpPr>
          <a:xfrm>
            <a:off x="15116269" y="9589521"/>
            <a:ext cx="1943649" cy="1943649"/>
            <a:chOff x="0" y="0"/>
            <a:chExt cx="812800" cy="812800"/>
          </a:xfrm>
        </p:grpSpPr>
        <p:sp>
          <p:nvSpPr>
            <p:cNvPr id="329" name="Google Shape;329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21"/>
          <p:cNvGrpSpPr/>
          <p:nvPr/>
        </p:nvGrpSpPr>
        <p:grpSpPr>
          <a:xfrm>
            <a:off x="16786255" y="9040801"/>
            <a:ext cx="548721" cy="548721"/>
            <a:chOff x="0" y="0"/>
            <a:chExt cx="812800" cy="812800"/>
          </a:xfrm>
        </p:grpSpPr>
        <p:sp>
          <p:nvSpPr>
            <p:cNvPr id="332" name="Google Shape;332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21"/>
          <p:cNvGrpSpPr/>
          <p:nvPr/>
        </p:nvGrpSpPr>
        <p:grpSpPr>
          <a:xfrm>
            <a:off x="17316161" y="630565"/>
            <a:ext cx="1943649" cy="1943649"/>
            <a:chOff x="0" y="0"/>
            <a:chExt cx="812800" cy="812800"/>
          </a:xfrm>
        </p:grpSpPr>
        <p:sp>
          <p:nvSpPr>
            <p:cNvPr id="335" name="Google Shape;335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21"/>
          <p:cNvGrpSpPr/>
          <p:nvPr/>
        </p:nvGrpSpPr>
        <p:grpSpPr>
          <a:xfrm>
            <a:off x="16710580" y="2158272"/>
            <a:ext cx="548721" cy="548721"/>
            <a:chOff x="0" y="0"/>
            <a:chExt cx="812800" cy="812800"/>
          </a:xfrm>
        </p:grpSpPr>
        <p:sp>
          <p:nvSpPr>
            <p:cNvPr id="338" name="Google Shape;338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21"/>
          <p:cNvSpPr/>
          <p:nvPr/>
        </p:nvSpPr>
        <p:spPr>
          <a:xfrm>
            <a:off x="231323" y="2569239"/>
            <a:ext cx="1388333" cy="1373436"/>
          </a:xfrm>
          <a:custGeom>
            <a:rect b="b" l="l" r="r" t="t"/>
            <a:pathLst>
              <a:path extrusionOk="0" h="1373436" w="1388333">
                <a:moveTo>
                  <a:pt x="0" y="0"/>
                </a:moveTo>
                <a:lnTo>
                  <a:pt x="1388333" y="0"/>
                </a:lnTo>
                <a:lnTo>
                  <a:pt x="1388333" y="1373436"/>
                </a:lnTo>
                <a:lnTo>
                  <a:pt x="0" y="1373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21"/>
          <p:cNvSpPr txBox="1"/>
          <p:nvPr/>
        </p:nvSpPr>
        <p:spPr>
          <a:xfrm>
            <a:off x="1014300" y="1160589"/>
            <a:ext cx="34788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lang="en-US" sz="59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L’appli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2" name="Google Shape;342;p21"/>
          <p:cNvGrpSpPr/>
          <p:nvPr/>
        </p:nvGrpSpPr>
        <p:grpSpPr>
          <a:xfrm>
            <a:off x="6117196" y="630564"/>
            <a:ext cx="10942732" cy="10927215"/>
            <a:chOff x="7080810" y="867712"/>
            <a:chExt cx="8563728" cy="8551584"/>
          </a:xfrm>
        </p:grpSpPr>
        <p:pic>
          <p:nvPicPr>
            <p:cNvPr id="343" name="Google Shape;34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80810" y="867712"/>
              <a:ext cx="3849882" cy="8551583"/>
            </a:xfrm>
            <a:prstGeom prst="rect">
              <a:avLst/>
            </a:prstGeom>
            <a:noFill/>
            <a:ln>
              <a:noFill/>
            </a:ln>
            <a:effectLst>
              <a:outerShdw blurRad="379410" rotWithShape="0" algn="bl" dir="5400000" dist="20235">
                <a:srgbClr val="000000">
                  <a:alpha val="50000"/>
                </a:srgbClr>
              </a:outerShdw>
            </a:effectLst>
          </p:spPr>
        </p:pic>
        <p:pic>
          <p:nvPicPr>
            <p:cNvPr id="344" name="Google Shape;344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794655" y="867712"/>
              <a:ext cx="3849883" cy="8551584"/>
            </a:xfrm>
            <a:prstGeom prst="rect">
              <a:avLst/>
            </a:prstGeom>
            <a:noFill/>
            <a:ln>
              <a:noFill/>
            </a:ln>
            <a:effectLst>
              <a:outerShdw blurRad="379410" rotWithShape="0" algn="bl" dir="5400000" dist="20235">
                <a:srgbClr val="000000">
                  <a:alpha val="50000"/>
                </a:srgbClr>
              </a:outerShdw>
            </a:effectLst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"/>
          <p:cNvSpPr/>
          <p:nvPr/>
        </p:nvSpPr>
        <p:spPr>
          <a:xfrm>
            <a:off x="-125" y="0"/>
            <a:ext cx="18288000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B3B3B3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" name="Google Shape;350;p22"/>
          <p:cNvGrpSpPr/>
          <p:nvPr/>
        </p:nvGrpSpPr>
        <p:grpSpPr>
          <a:xfrm>
            <a:off x="-1585061" y="847873"/>
            <a:ext cx="6527179" cy="1363467"/>
            <a:chOff x="0" y="-47625"/>
            <a:chExt cx="1719081" cy="359100"/>
          </a:xfrm>
        </p:grpSpPr>
        <p:sp>
          <p:nvSpPr>
            <p:cNvPr id="351" name="Google Shape;351;p22"/>
            <p:cNvSpPr/>
            <p:nvPr/>
          </p:nvSpPr>
          <p:spPr>
            <a:xfrm>
              <a:off x="0" y="0"/>
              <a:ext cx="1719081" cy="311326"/>
            </a:xfrm>
            <a:custGeom>
              <a:rect b="b" l="l" r="r" t="t"/>
              <a:pathLst>
                <a:path extrusionOk="0" h="311326" w="1719081">
                  <a:moveTo>
                    <a:pt x="118611" y="0"/>
                  </a:moveTo>
                  <a:lnTo>
                    <a:pt x="1600469" y="0"/>
                  </a:lnTo>
                  <a:cubicBezTo>
                    <a:pt x="1631927" y="0"/>
                    <a:pt x="1662096" y="12497"/>
                    <a:pt x="1684340" y="34740"/>
                  </a:cubicBezTo>
                  <a:cubicBezTo>
                    <a:pt x="1706584" y="56984"/>
                    <a:pt x="1719081" y="87154"/>
                    <a:pt x="1719081" y="118611"/>
                  </a:cubicBezTo>
                  <a:lnTo>
                    <a:pt x="1719081" y="192714"/>
                  </a:lnTo>
                  <a:cubicBezTo>
                    <a:pt x="1719081" y="224172"/>
                    <a:pt x="1706584" y="254341"/>
                    <a:pt x="1684340" y="276585"/>
                  </a:cubicBezTo>
                  <a:cubicBezTo>
                    <a:pt x="1662096" y="298829"/>
                    <a:pt x="1631927" y="311326"/>
                    <a:pt x="1600469" y="311326"/>
                  </a:cubicBezTo>
                  <a:lnTo>
                    <a:pt x="118611" y="311326"/>
                  </a:lnTo>
                  <a:cubicBezTo>
                    <a:pt x="87154" y="311326"/>
                    <a:pt x="56984" y="298829"/>
                    <a:pt x="34740" y="276585"/>
                  </a:cubicBezTo>
                  <a:cubicBezTo>
                    <a:pt x="12497" y="254341"/>
                    <a:pt x="0" y="224172"/>
                    <a:pt x="0" y="192714"/>
                  </a:cubicBezTo>
                  <a:lnTo>
                    <a:pt x="0" y="118611"/>
                  </a:lnTo>
                  <a:cubicBezTo>
                    <a:pt x="0" y="87154"/>
                    <a:pt x="12497" y="56984"/>
                    <a:pt x="34740" y="34740"/>
                  </a:cubicBezTo>
                  <a:cubicBezTo>
                    <a:pt x="56984" y="12497"/>
                    <a:pt x="87154" y="0"/>
                    <a:pt x="118611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2"/>
            <p:cNvSpPr txBox="1"/>
            <p:nvPr/>
          </p:nvSpPr>
          <p:spPr>
            <a:xfrm>
              <a:off x="0" y="-47625"/>
              <a:ext cx="17190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2"/>
          <p:cNvGrpSpPr/>
          <p:nvPr/>
        </p:nvGrpSpPr>
        <p:grpSpPr>
          <a:xfrm>
            <a:off x="1895823" y="2574226"/>
            <a:ext cx="1586620" cy="1363467"/>
            <a:chOff x="0" y="-47625"/>
            <a:chExt cx="531620" cy="359100"/>
          </a:xfrm>
        </p:grpSpPr>
        <p:sp>
          <p:nvSpPr>
            <p:cNvPr id="354" name="Google Shape;354;p22"/>
            <p:cNvSpPr/>
            <p:nvPr/>
          </p:nvSpPr>
          <p:spPr>
            <a:xfrm>
              <a:off x="0" y="0"/>
              <a:ext cx="531620" cy="311326"/>
            </a:xfrm>
            <a:custGeom>
              <a:rect b="b" l="l" r="r" t="t"/>
              <a:pathLst>
                <a:path extrusionOk="0" h="311326" w="531620">
                  <a:moveTo>
                    <a:pt x="155663" y="0"/>
                  </a:moveTo>
                  <a:lnTo>
                    <a:pt x="375957" y="0"/>
                  </a:lnTo>
                  <a:cubicBezTo>
                    <a:pt x="417242" y="0"/>
                    <a:pt x="456835" y="16400"/>
                    <a:pt x="486028" y="45593"/>
                  </a:cubicBezTo>
                  <a:cubicBezTo>
                    <a:pt x="515220" y="74785"/>
                    <a:pt x="531620" y="114378"/>
                    <a:pt x="531620" y="155663"/>
                  </a:cubicBezTo>
                  <a:lnTo>
                    <a:pt x="531620" y="155663"/>
                  </a:lnTo>
                  <a:cubicBezTo>
                    <a:pt x="531620" y="241633"/>
                    <a:pt x="461928" y="311326"/>
                    <a:pt x="375957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2"/>
            <p:cNvSpPr txBox="1"/>
            <p:nvPr/>
          </p:nvSpPr>
          <p:spPr>
            <a:xfrm>
              <a:off x="0" y="-47625"/>
              <a:ext cx="5316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22"/>
          <p:cNvGrpSpPr/>
          <p:nvPr/>
        </p:nvGrpSpPr>
        <p:grpSpPr>
          <a:xfrm>
            <a:off x="3758629" y="2574223"/>
            <a:ext cx="1183494" cy="1363467"/>
            <a:chOff x="0" y="-47625"/>
            <a:chExt cx="311700" cy="359100"/>
          </a:xfrm>
        </p:grpSpPr>
        <p:sp>
          <p:nvSpPr>
            <p:cNvPr id="357" name="Google Shape;357;p22"/>
            <p:cNvSpPr/>
            <p:nvPr/>
          </p:nvSpPr>
          <p:spPr>
            <a:xfrm>
              <a:off x="0" y="0"/>
              <a:ext cx="311685" cy="311326"/>
            </a:xfrm>
            <a:custGeom>
              <a:rect b="b" l="l" r="r" t="t"/>
              <a:pathLst>
                <a:path extrusionOk="0" h="311326" w="311685">
                  <a:moveTo>
                    <a:pt x="155663" y="0"/>
                  </a:moveTo>
                  <a:lnTo>
                    <a:pt x="156023" y="0"/>
                  </a:lnTo>
                  <a:cubicBezTo>
                    <a:pt x="241993" y="0"/>
                    <a:pt x="311685" y="69693"/>
                    <a:pt x="311685" y="155663"/>
                  </a:cubicBezTo>
                  <a:lnTo>
                    <a:pt x="311685" y="155663"/>
                  </a:lnTo>
                  <a:cubicBezTo>
                    <a:pt x="311685" y="196947"/>
                    <a:pt x="295285" y="236541"/>
                    <a:pt x="266093" y="265733"/>
                  </a:cubicBezTo>
                  <a:cubicBezTo>
                    <a:pt x="236900" y="294925"/>
                    <a:pt x="197307" y="311326"/>
                    <a:pt x="156023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9B8F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2"/>
            <p:cNvSpPr txBox="1"/>
            <p:nvPr/>
          </p:nvSpPr>
          <p:spPr>
            <a:xfrm>
              <a:off x="0" y="-47625"/>
              <a:ext cx="3117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22"/>
          <p:cNvGrpSpPr/>
          <p:nvPr/>
        </p:nvGrpSpPr>
        <p:grpSpPr>
          <a:xfrm>
            <a:off x="15116269" y="9589521"/>
            <a:ext cx="1943649" cy="1943649"/>
            <a:chOff x="0" y="0"/>
            <a:chExt cx="812800" cy="812800"/>
          </a:xfrm>
        </p:grpSpPr>
        <p:sp>
          <p:nvSpPr>
            <p:cNvPr id="360" name="Google Shape;360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22"/>
          <p:cNvGrpSpPr/>
          <p:nvPr/>
        </p:nvGrpSpPr>
        <p:grpSpPr>
          <a:xfrm>
            <a:off x="16786255" y="9040801"/>
            <a:ext cx="548721" cy="548721"/>
            <a:chOff x="0" y="0"/>
            <a:chExt cx="812800" cy="812800"/>
          </a:xfrm>
        </p:grpSpPr>
        <p:sp>
          <p:nvSpPr>
            <p:cNvPr id="363" name="Google Shape;363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22"/>
          <p:cNvGrpSpPr/>
          <p:nvPr/>
        </p:nvGrpSpPr>
        <p:grpSpPr>
          <a:xfrm>
            <a:off x="17316161" y="630565"/>
            <a:ext cx="1943649" cy="1943649"/>
            <a:chOff x="0" y="0"/>
            <a:chExt cx="812800" cy="812800"/>
          </a:xfrm>
        </p:grpSpPr>
        <p:sp>
          <p:nvSpPr>
            <p:cNvPr id="366" name="Google Shape;366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22"/>
          <p:cNvGrpSpPr/>
          <p:nvPr/>
        </p:nvGrpSpPr>
        <p:grpSpPr>
          <a:xfrm>
            <a:off x="16710580" y="2158272"/>
            <a:ext cx="548721" cy="548721"/>
            <a:chOff x="0" y="0"/>
            <a:chExt cx="812800" cy="812800"/>
          </a:xfrm>
        </p:grpSpPr>
        <p:sp>
          <p:nvSpPr>
            <p:cNvPr id="369" name="Google Shape;369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22"/>
          <p:cNvSpPr/>
          <p:nvPr/>
        </p:nvSpPr>
        <p:spPr>
          <a:xfrm>
            <a:off x="231323" y="2569239"/>
            <a:ext cx="1388333" cy="1373436"/>
          </a:xfrm>
          <a:custGeom>
            <a:rect b="b" l="l" r="r" t="t"/>
            <a:pathLst>
              <a:path extrusionOk="0" h="1373436" w="1388333">
                <a:moveTo>
                  <a:pt x="0" y="0"/>
                </a:moveTo>
                <a:lnTo>
                  <a:pt x="1388333" y="0"/>
                </a:lnTo>
                <a:lnTo>
                  <a:pt x="1388333" y="1373436"/>
                </a:lnTo>
                <a:lnTo>
                  <a:pt x="0" y="1373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p22"/>
          <p:cNvSpPr txBox="1"/>
          <p:nvPr/>
        </p:nvSpPr>
        <p:spPr>
          <a:xfrm>
            <a:off x="1014300" y="1160589"/>
            <a:ext cx="34788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lang="en-US" sz="59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L’appli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3" name="Google Shape;37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3843" y="375862"/>
            <a:ext cx="5106956" cy="11343846"/>
          </a:xfrm>
          <a:prstGeom prst="rect">
            <a:avLst/>
          </a:prstGeom>
          <a:noFill/>
          <a:ln>
            <a:noFill/>
          </a:ln>
          <a:effectLst>
            <a:outerShdw blurRad="470909" rotWithShape="0" algn="bl" dir="5400000" dist="2511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23"/>
          <p:cNvGrpSpPr/>
          <p:nvPr/>
        </p:nvGrpSpPr>
        <p:grpSpPr>
          <a:xfrm>
            <a:off x="7666824" y="-303475"/>
            <a:ext cx="12758500" cy="10968105"/>
            <a:chOff x="0" y="-47625"/>
            <a:chExt cx="2645400" cy="2888700"/>
          </a:xfrm>
        </p:grpSpPr>
        <p:sp>
          <p:nvSpPr>
            <p:cNvPr id="379" name="Google Shape;379;p23"/>
            <p:cNvSpPr/>
            <p:nvPr/>
          </p:nvSpPr>
          <p:spPr>
            <a:xfrm>
              <a:off x="0" y="0"/>
              <a:ext cx="2645302" cy="2840986"/>
            </a:xfrm>
            <a:custGeom>
              <a:rect b="b" l="l" r="r" t="t"/>
              <a:pathLst>
                <a:path extrusionOk="0" h="2840986" w="2645302">
                  <a:moveTo>
                    <a:pt x="0" y="0"/>
                  </a:moveTo>
                  <a:lnTo>
                    <a:pt x="2645302" y="0"/>
                  </a:lnTo>
                  <a:lnTo>
                    <a:pt x="2645302" y="2840986"/>
                  </a:lnTo>
                  <a:lnTo>
                    <a:pt x="0" y="2840986"/>
                  </a:ln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</p:sp>
        <p:sp>
          <p:nvSpPr>
            <p:cNvPr id="380" name="Google Shape;380;p23"/>
            <p:cNvSpPr txBox="1"/>
            <p:nvPr/>
          </p:nvSpPr>
          <p:spPr>
            <a:xfrm>
              <a:off x="0" y="-47625"/>
              <a:ext cx="2645400" cy="28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23"/>
          <p:cNvGrpSpPr/>
          <p:nvPr/>
        </p:nvGrpSpPr>
        <p:grpSpPr>
          <a:xfrm>
            <a:off x="15116269" y="-971839"/>
            <a:ext cx="1943649" cy="1943649"/>
            <a:chOff x="0" y="0"/>
            <a:chExt cx="812800" cy="812800"/>
          </a:xfrm>
        </p:grpSpPr>
        <p:sp>
          <p:nvSpPr>
            <p:cNvPr id="382" name="Google Shape;382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23"/>
          <p:cNvGrpSpPr/>
          <p:nvPr/>
        </p:nvGrpSpPr>
        <p:grpSpPr>
          <a:xfrm>
            <a:off x="7133276" y="847873"/>
            <a:ext cx="1183494" cy="1363467"/>
            <a:chOff x="0" y="-47625"/>
            <a:chExt cx="311700" cy="359100"/>
          </a:xfrm>
        </p:grpSpPr>
        <p:sp>
          <p:nvSpPr>
            <p:cNvPr id="385" name="Google Shape;385;p23"/>
            <p:cNvSpPr/>
            <p:nvPr/>
          </p:nvSpPr>
          <p:spPr>
            <a:xfrm>
              <a:off x="0" y="0"/>
              <a:ext cx="311685" cy="311326"/>
            </a:xfrm>
            <a:custGeom>
              <a:rect b="b" l="l" r="r" t="t"/>
              <a:pathLst>
                <a:path extrusionOk="0" h="311326" w="311685">
                  <a:moveTo>
                    <a:pt x="155663" y="0"/>
                  </a:moveTo>
                  <a:lnTo>
                    <a:pt x="156023" y="0"/>
                  </a:lnTo>
                  <a:cubicBezTo>
                    <a:pt x="241993" y="0"/>
                    <a:pt x="311685" y="69693"/>
                    <a:pt x="311685" y="155663"/>
                  </a:cubicBezTo>
                  <a:lnTo>
                    <a:pt x="311685" y="155663"/>
                  </a:lnTo>
                  <a:cubicBezTo>
                    <a:pt x="311685" y="196947"/>
                    <a:pt x="295285" y="236541"/>
                    <a:pt x="266093" y="265733"/>
                  </a:cubicBezTo>
                  <a:cubicBezTo>
                    <a:pt x="236900" y="294925"/>
                    <a:pt x="197307" y="311326"/>
                    <a:pt x="156023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3"/>
            <p:cNvSpPr txBox="1"/>
            <p:nvPr/>
          </p:nvSpPr>
          <p:spPr>
            <a:xfrm>
              <a:off x="0" y="-47625"/>
              <a:ext cx="3117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3"/>
          <p:cNvGrpSpPr/>
          <p:nvPr/>
        </p:nvGrpSpPr>
        <p:grpSpPr>
          <a:xfrm>
            <a:off x="14567549" y="630565"/>
            <a:ext cx="548721" cy="548721"/>
            <a:chOff x="0" y="0"/>
            <a:chExt cx="812800" cy="812800"/>
          </a:xfrm>
        </p:grpSpPr>
        <p:sp>
          <p:nvSpPr>
            <p:cNvPr id="388" name="Google Shape;388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23"/>
          <p:cNvGrpSpPr/>
          <p:nvPr/>
        </p:nvGrpSpPr>
        <p:grpSpPr>
          <a:xfrm>
            <a:off x="-1158781" y="6563622"/>
            <a:ext cx="1943649" cy="1943649"/>
            <a:chOff x="0" y="0"/>
            <a:chExt cx="812800" cy="812800"/>
          </a:xfrm>
        </p:grpSpPr>
        <p:sp>
          <p:nvSpPr>
            <p:cNvPr id="391" name="Google Shape;391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4E33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23"/>
          <p:cNvGrpSpPr/>
          <p:nvPr/>
        </p:nvGrpSpPr>
        <p:grpSpPr>
          <a:xfrm>
            <a:off x="510537" y="8318391"/>
            <a:ext cx="548721" cy="548721"/>
            <a:chOff x="0" y="0"/>
            <a:chExt cx="812800" cy="812800"/>
          </a:xfrm>
        </p:grpSpPr>
        <p:sp>
          <p:nvSpPr>
            <p:cNvPr id="394" name="Google Shape;394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33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23"/>
          <p:cNvGrpSpPr/>
          <p:nvPr/>
        </p:nvGrpSpPr>
        <p:grpSpPr>
          <a:xfrm>
            <a:off x="17316161" y="630565"/>
            <a:ext cx="1943649" cy="1943649"/>
            <a:chOff x="0" y="0"/>
            <a:chExt cx="812800" cy="812800"/>
          </a:xfrm>
        </p:grpSpPr>
        <p:sp>
          <p:nvSpPr>
            <p:cNvPr id="397" name="Google Shape;397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3"/>
          <p:cNvGrpSpPr/>
          <p:nvPr/>
        </p:nvGrpSpPr>
        <p:grpSpPr>
          <a:xfrm>
            <a:off x="16710580" y="2158272"/>
            <a:ext cx="548721" cy="548721"/>
            <a:chOff x="0" y="0"/>
            <a:chExt cx="812800" cy="812800"/>
          </a:xfrm>
        </p:grpSpPr>
        <p:sp>
          <p:nvSpPr>
            <p:cNvPr id="400" name="Google Shape;400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23"/>
          <p:cNvSpPr/>
          <p:nvPr/>
        </p:nvSpPr>
        <p:spPr>
          <a:xfrm>
            <a:off x="5746359" y="6738408"/>
            <a:ext cx="3096261" cy="3068657"/>
          </a:xfrm>
          <a:custGeom>
            <a:rect b="b" l="l" r="r" t="t"/>
            <a:pathLst>
              <a:path extrusionOk="0" h="3068657" w="3096261">
                <a:moveTo>
                  <a:pt x="0" y="0"/>
                </a:moveTo>
                <a:lnTo>
                  <a:pt x="3096261" y="0"/>
                </a:lnTo>
                <a:lnTo>
                  <a:pt x="3096261" y="3068656"/>
                </a:lnTo>
                <a:lnTo>
                  <a:pt x="0" y="3068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23"/>
          <p:cNvSpPr txBox="1"/>
          <p:nvPr/>
        </p:nvSpPr>
        <p:spPr>
          <a:xfrm>
            <a:off x="9117025" y="2781000"/>
            <a:ext cx="7228200" cy="57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Des pistes pour le futur </a:t>
            </a:r>
            <a:endParaRPr b="1" i="0" sz="3200" u="none" cap="none" strike="noStrike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Intégrer un </a:t>
            </a:r>
            <a:r>
              <a:rPr b="1"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maximum de sources</a:t>
            </a:r>
            <a:r>
              <a:rPr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 de données et de types de trajet (aujourd’hui que le train, à terme: métro, voiture, vélo, etc.)</a:t>
            </a:r>
            <a:endParaRPr sz="240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Migrer le moteur de prédiction et de suggestion vers un </a:t>
            </a:r>
            <a:r>
              <a:rPr b="1"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modèle d’IA agentique</a:t>
            </a:r>
            <a:r>
              <a:rPr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 accessible aux partenaires et aux usagers.</a:t>
            </a:r>
            <a:endParaRPr sz="240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Continuer à </a:t>
            </a:r>
            <a:r>
              <a:rPr b="1"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améliorer et entraîner</a:t>
            </a:r>
            <a:r>
              <a:rPr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 les modèles de prédiction.</a:t>
            </a:r>
            <a:endParaRPr sz="240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23"/>
          <p:cNvSpPr txBox="1"/>
          <p:nvPr/>
        </p:nvSpPr>
        <p:spPr>
          <a:xfrm>
            <a:off x="612625" y="3013375"/>
            <a:ext cx="64860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Pour conclure</a:t>
            </a:r>
            <a:r>
              <a:rPr b="1" lang="en-US" sz="32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2400" u="none" cap="none" strike="noStrike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Un outil malléable, apte à modifier les comportements des salariés et des entreprises.</a:t>
            </a:r>
            <a:endParaRPr sz="240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Une nouvelle dimension t</a:t>
            </a:r>
            <a:endParaRPr sz="240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Une nouvelle source de données fiables pour la région et ses acteurs.</a:t>
            </a:r>
            <a:endParaRPr sz="240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05" name="Google Shape;405;p23"/>
          <p:cNvGrpSpPr/>
          <p:nvPr/>
        </p:nvGrpSpPr>
        <p:grpSpPr>
          <a:xfrm>
            <a:off x="-1257913" y="847873"/>
            <a:ext cx="8233608" cy="1363467"/>
            <a:chOff x="0" y="-47625"/>
            <a:chExt cx="2168508" cy="359100"/>
          </a:xfrm>
        </p:grpSpPr>
        <p:sp>
          <p:nvSpPr>
            <p:cNvPr id="406" name="Google Shape;406;p23"/>
            <p:cNvSpPr/>
            <p:nvPr/>
          </p:nvSpPr>
          <p:spPr>
            <a:xfrm>
              <a:off x="0" y="0"/>
              <a:ext cx="2168508" cy="311326"/>
            </a:xfrm>
            <a:custGeom>
              <a:rect b="b" l="l" r="r" t="t"/>
              <a:pathLst>
                <a:path extrusionOk="0" h="311326" w="2168508">
                  <a:moveTo>
                    <a:pt x="94029" y="0"/>
                  </a:moveTo>
                  <a:lnTo>
                    <a:pt x="2074479" y="0"/>
                  </a:lnTo>
                  <a:cubicBezTo>
                    <a:pt x="2099417" y="0"/>
                    <a:pt x="2123333" y="9907"/>
                    <a:pt x="2140967" y="27540"/>
                  </a:cubicBezTo>
                  <a:cubicBezTo>
                    <a:pt x="2158601" y="45174"/>
                    <a:pt x="2168508" y="69091"/>
                    <a:pt x="2168508" y="94029"/>
                  </a:cubicBezTo>
                  <a:lnTo>
                    <a:pt x="2168508" y="217297"/>
                  </a:lnTo>
                  <a:cubicBezTo>
                    <a:pt x="2168508" y="242235"/>
                    <a:pt x="2158601" y="266151"/>
                    <a:pt x="2140967" y="283785"/>
                  </a:cubicBezTo>
                  <a:cubicBezTo>
                    <a:pt x="2123333" y="301419"/>
                    <a:pt x="2099417" y="311326"/>
                    <a:pt x="2074479" y="311326"/>
                  </a:cubicBezTo>
                  <a:lnTo>
                    <a:pt x="94029" y="311326"/>
                  </a:lnTo>
                  <a:cubicBezTo>
                    <a:pt x="69091" y="311326"/>
                    <a:pt x="45174" y="301419"/>
                    <a:pt x="27540" y="283785"/>
                  </a:cubicBezTo>
                  <a:cubicBezTo>
                    <a:pt x="9907" y="266151"/>
                    <a:pt x="0" y="242235"/>
                    <a:pt x="0" y="217297"/>
                  </a:cubicBezTo>
                  <a:lnTo>
                    <a:pt x="0" y="94029"/>
                  </a:lnTo>
                  <a:cubicBezTo>
                    <a:pt x="0" y="69091"/>
                    <a:pt x="9907" y="45174"/>
                    <a:pt x="27540" y="27540"/>
                  </a:cubicBezTo>
                  <a:cubicBezTo>
                    <a:pt x="45174" y="9907"/>
                    <a:pt x="69091" y="0"/>
                    <a:pt x="94029" y="0"/>
                  </a:cubicBezTo>
                  <a:close/>
                </a:path>
              </a:pathLst>
            </a:custGeom>
            <a:solidFill>
              <a:srgbClr val="9B8F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3"/>
            <p:cNvSpPr txBox="1"/>
            <p:nvPr/>
          </p:nvSpPr>
          <p:spPr>
            <a:xfrm>
              <a:off x="0" y="-47625"/>
              <a:ext cx="21684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23"/>
          <p:cNvSpPr txBox="1"/>
          <p:nvPr/>
        </p:nvSpPr>
        <p:spPr>
          <a:xfrm>
            <a:off x="1180825" y="1143250"/>
            <a:ext cx="64860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i="0" lang="en-US" sz="596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24"/>
          <p:cNvGrpSpPr/>
          <p:nvPr/>
        </p:nvGrpSpPr>
        <p:grpSpPr>
          <a:xfrm>
            <a:off x="-1585061" y="847873"/>
            <a:ext cx="6527179" cy="1363467"/>
            <a:chOff x="0" y="-47625"/>
            <a:chExt cx="1719081" cy="359100"/>
          </a:xfrm>
        </p:grpSpPr>
        <p:sp>
          <p:nvSpPr>
            <p:cNvPr id="414" name="Google Shape;414;p24"/>
            <p:cNvSpPr/>
            <p:nvPr/>
          </p:nvSpPr>
          <p:spPr>
            <a:xfrm>
              <a:off x="0" y="0"/>
              <a:ext cx="1719081" cy="311326"/>
            </a:xfrm>
            <a:custGeom>
              <a:rect b="b" l="l" r="r" t="t"/>
              <a:pathLst>
                <a:path extrusionOk="0" h="311326" w="1719081">
                  <a:moveTo>
                    <a:pt x="118611" y="0"/>
                  </a:moveTo>
                  <a:lnTo>
                    <a:pt x="1600469" y="0"/>
                  </a:lnTo>
                  <a:cubicBezTo>
                    <a:pt x="1631927" y="0"/>
                    <a:pt x="1662096" y="12497"/>
                    <a:pt x="1684340" y="34740"/>
                  </a:cubicBezTo>
                  <a:cubicBezTo>
                    <a:pt x="1706584" y="56984"/>
                    <a:pt x="1719081" y="87154"/>
                    <a:pt x="1719081" y="118611"/>
                  </a:cubicBezTo>
                  <a:lnTo>
                    <a:pt x="1719081" y="192714"/>
                  </a:lnTo>
                  <a:cubicBezTo>
                    <a:pt x="1719081" y="224172"/>
                    <a:pt x="1706584" y="254341"/>
                    <a:pt x="1684340" y="276585"/>
                  </a:cubicBezTo>
                  <a:cubicBezTo>
                    <a:pt x="1662096" y="298829"/>
                    <a:pt x="1631927" y="311326"/>
                    <a:pt x="1600469" y="311326"/>
                  </a:cubicBezTo>
                  <a:lnTo>
                    <a:pt x="118611" y="311326"/>
                  </a:lnTo>
                  <a:cubicBezTo>
                    <a:pt x="87154" y="311326"/>
                    <a:pt x="56984" y="298829"/>
                    <a:pt x="34740" y="276585"/>
                  </a:cubicBezTo>
                  <a:cubicBezTo>
                    <a:pt x="12497" y="254341"/>
                    <a:pt x="0" y="224172"/>
                    <a:pt x="0" y="192714"/>
                  </a:cubicBezTo>
                  <a:lnTo>
                    <a:pt x="0" y="118611"/>
                  </a:lnTo>
                  <a:cubicBezTo>
                    <a:pt x="0" y="87154"/>
                    <a:pt x="12497" y="56984"/>
                    <a:pt x="34740" y="34740"/>
                  </a:cubicBezTo>
                  <a:cubicBezTo>
                    <a:pt x="56984" y="12497"/>
                    <a:pt x="87154" y="0"/>
                    <a:pt x="118611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4"/>
            <p:cNvSpPr txBox="1"/>
            <p:nvPr/>
          </p:nvSpPr>
          <p:spPr>
            <a:xfrm>
              <a:off x="0" y="-47625"/>
              <a:ext cx="17190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24"/>
          <p:cNvGrpSpPr/>
          <p:nvPr/>
        </p:nvGrpSpPr>
        <p:grpSpPr>
          <a:xfrm>
            <a:off x="5214134" y="847873"/>
            <a:ext cx="2018508" cy="1363467"/>
            <a:chOff x="0" y="-47625"/>
            <a:chExt cx="531620" cy="359100"/>
          </a:xfrm>
        </p:grpSpPr>
        <p:sp>
          <p:nvSpPr>
            <p:cNvPr id="417" name="Google Shape;417;p24"/>
            <p:cNvSpPr/>
            <p:nvPr/>
          </p:nvSpPr>
          <p:spPr>
            <a:xfrm>
              <a:off x="0" y="0"/>
              <a:ext cx="531620" cy="311326"/>
            </a:xfrm>
            <a:custGeom>
              <a:rect b="b" l="l" r="r" t="t"/>
              <a:pathLst>
                <a:path extrusionOk="0" h="311326" w="531620">
                  <a:moveTo>
                    <a:pt x="155663" y="0"/>
                  </a:moveTo>
                  <a:lnTo>
                    <a:pt x="375957" y="0"/>
                  </a:lnTo>
                  <a:cubicBezTo>
                    <a:pt x="417242" y="0"/>
                    <a:pt x="456835" y="16400"/>
                    <a:pt x="486028" y="45593"/>
                  </a:cubicBezTo>
                  <a:cubicBezTo>
                    <a:pt x="515220" y="74785"/>
                    <a:pt x="531620" y="114378"/>
                    <a:pt x="531620" y="155663"/>
                  </a:cubicBezTo>
                  <a:lnTo>
                    <a:pt x="531620" y="155663"/>
                  </a:lnTo>
                  <a:cubicBezTo>
                    <a:pt x="531620" y="241633"/>
                    <a:pt x="461928" y="311326"/>
                    <a:pt x="375957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E72F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4"/>
            <p:cNvSpPr txBox="1"/>
            <p:nvPr/>
          </p:nvSpPr>
          <p:spPr>
            <a:xfrm>
              <a:off x="0" y="-47625"/>
              <a:ext cx="5316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p24"/>
          <p:cNvGrpSpPr/>
          <p:nvPr/>
        </p:nvGrpSpPr>
        <p:grpSpPr>
          <a:xfrm>
            <a:off x="7508854" y="847873"/>
            <a:ext cx="1183494" cy="1363467"/>
            <a:chOff x="0" y="-47625"/>
            <a:chExt cx="311700" cy="359100"/>
          </a:xfrm>
        </p:grpSpPr>
        <p:sp>
          <p:nvSpPr>
            <p:cNvPr id="420" name="Google Shape;420;p24"/>
            <p:cNvSpPr/>
            <p:nvPr/>
          </p:nvSpPr>
          <p:spPr>
            <a:xfrm>
              <a:off x="0" y="0"/>
              <a:ext cx="311685" cy="311326"/>
            </a:xfrm>
            <a:custGeom>
              <a:rect b="b" l="l" r="r" t="t"/>
              <a:pathLst>
                <a:path extrusionOk="0" h="311326" w="311685">
                  <a:moveTo>
                    <a:pt x="155663" y="0"/>
                  </a:moveTo>
                  <a:lnTo>
                    <a:pt x="156023" y="0"/>
                  </a:lnTo>
                  <a:cubicBezTo>
                    <a:pt x="241993" y="0"/>
                    <a:pt x="311685" y="69693"/>
                    <a:pt x="311685" y="155663"/>
                  </a:cubicBezTo>
                  <a:lnTo>
                    <a:pt x="311685" y="155663"/>
                  </a:lnTo>
                  <a:cubicBezTo>
                    <a:pt x="311685" y="196947"/>
                    <a:pt x="295285" y="236541"/>
                    <a:pt x="266093" y="265733"/>
                  </a:cubicBezTo>
                  <a:cubicBezTo>
                    <a:pt x="236900" y="294925"/>
                    <a:pt x="197307" y="311326"/>
                    <a:pt x="156023" y="311326"/>
                  </a:cubicBezTo>
                  <a:lnTo>
                    <a:pt x="155663" y="311326"/>
                  </a:lnTo>
                  <a:cubicBezTo>
                    <a:pt x="69693" y="311326"/>
                    <a:pt x="0" y="241633"/>
                    <a:pt x="0" y="155663"/>
                  </a:cubicBezTo>
                  <a:lnTo>
                    <a:pt x="0" y="155663"/>
                  </a:lnTo>
                  <a:cubicBezTo>
                    <a:pt x="0" y="69693"/>
                    <a:pt x="69693" y="0"/>
                    <a:pt x="155663" y="0"/>
                  </a:cubicBezTo>
                  <a:close/>
                </a:path>
              </a:pathLst>
            </a:custGeom>
            <a:solidFill>
              <a:srgbClr val="9B8F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4"/>
            <p:cNvSpPr txBox="1"/>
            <p:nvPr/>
          </p:nvSpPr>
          <p:spPr>
            <a:xfrm>
              <a:off x="0" y="-47625"/>
              <a:ext cx="3117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24"/>
          <p:cNvGrpSpPr/>
          <p:nvPr/>
        </p:nvGrpSpPr>
        <p:grpSpPr>
          <a:xfrm>
            <a:off x="15116269" y="9437121"/>
            <a:ext cx="1943649" cy="1943649"/>
            <a:chOff x="0" y="0"/>
            <a:chExt cx="812800" cy="812800"/>
          </a:xfrm>
        </p:grpSpPr>
        <p:sp>
          <p:nvSpPr>
            <p:cNvPr id="423" name="Google Shape;423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p24"/>
          <p:cNvGrpSpPr/>
          <p:nvPr/>
        </p:nvGrpSpPr>
        <p:grpSpPr>
          <a:xfrm>
            <a:off x="16786255" y="8964601"/>
            <a:ext cx="548721" cy="548721"/>
            <a:chOff x="0" y="0"/>
            <a:chExt cx="812800" cy="812800"/>
          </a:xfrm>
        </p:grpSpPr>
        <p:sp>
          <p:nvSpPr>
            <p:cNvPr id="426" name="Google Shape;426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" name="Google Shape;428;p24"/>
          <p:cNvGrpSpPr/>
          <p:nvPr/>
        </p:nvGrpSpPr>
        <p:grpSpPr>
          <a:xfrm>
            <a:off x="17316161" y="630565"/>
            <a:ext cx="1943649" cy="1943649"/>
            <a:chOff x="0" y="0"/>
            <a:chExt cx="812800" cy="812800"/>
          </a:xfrm>
        </p:grpSpPr>
        <p:sp>
          <p:nvSpPr>
            <p:cNvPr id="429" name="Google Shape;429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0">
              <a:solidFill>
                <a:srgbClr val="6FBCF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" name="Google Shape;431;p24"/>
          <p:cNvGrpSpPr/>
          <p:nvPr/>
        </p:nvGrpSpPr>
        <p:grpSpPr>
          <a:xfrm>
            <a:off x="16710580" y="2158272"/>
            <a:ext cx="548721" cy="548721"/>
            <a:chOff x="0" y="0"/>
            <a:chExt cx="812800" cy="812800"/>
          </a:xfrm>
        </p:grpSpPr>
        <p:sp>
          <p:nvSpPr>
            <p:cNvPr id="432" name="Google Shape;432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C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p24"/>
          <p:cNvSpPr txBox="1"/>
          <p:nvPr/>
        </p:nvSpPr>
        <p:spPr>
          <a:xfrm>
            <a:off x="1093200" y="1160577"/>
            <a:ext cx="34788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66"/>
              <a:buFont typeface="Arial"/>
              <a:buNone/>
            </a:pPr>
            <a:r>
              <a:rPr b="1" i="0" lang="en-US" sz="596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Schéma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435" name="Google Shape;435;p24"/>
          <p:cNvGraphicFramePr/>
          <p:nvPr/>
        </p:nvGraphicFramePr>
        <p:xfrm>
          <a:off x="3944475" y="257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{BD5787AD-701A-4FD6-AF8B-DABED2C6643D}</a:tableStyleId>
              </a:tblPr>
              <a:tblGrid>
                <a:gridCol w="1633875"/>
                <a:gridCol w="6336225"/>
                <a:gridCol w="1633875"/>
                <a:gridCol w="1952675"/>
              </a:tblGrid>
              <a:tr h="96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Slide</a:t>
                      </a:r>
                      <a:endParaRPr b="1"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Contenu</a:t>
                      </a:r>
                      <a:endParaRPr b="1"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Temps</a:t>
                      </a:r>
                      <a:endParaRPr b="1"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/>
                        <a:t>Cumulé</a:t>
                      </a:r>
                      <a:endParaRPr b="1" sz="3000"/>
                    </a:p>
                  </a:txBody>
                  <a:tcPr marT="91425" marB="91425" marR="91425" marL="91425"/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1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Équipe + Titre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15s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0:15</a:t>
                      </a:r>
                      <a:endParaRPr sz="3300"/>
                    </a:p>
                  </a:txBody>
                  <a:tcPr marT="91425" marB="91425" marR="91425" marL="91425"/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2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Problème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30s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0:45</a:t>
                      </a:r>
                      <a:endParaRPr sz="3300"/>
                    </a:p>
                  </a:txBody>
                  <a:tcPr marT="91425" marB="91425" marR="91425" marL="91425"/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3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Solution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40s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1:25</a:t>
                      </a:r>
                      <a:endParaRPr sz="3300"/>
                    </a:p>
                  </a:txBody>
                  <a:tcPr marT="91425" marB="91425" marR="91425" marL="91425"/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4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User Journey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45s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2:10</a:t>
                      </a:r>
                      <a:endParaRPr sz="3300"/>
                    </a:p>
                  </a:txBody>
                  <a:tcPr marT="91425" marB="91425" marR="91425" marL="91425"/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5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Démo Live (essentiellement Brut Prediction IA + API)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60s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3:10</a:t>
                      </a:r>
                      <a:endParaRPr sz="3300"/>
                    </a:p>
                  </a:txBody>
                  <a:tcPr marT="91425" marB="91425" marR="91425" marL="91425"/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6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Architecture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25s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3:35</a:t>
                      </a:r>
                      <a:endParaRPr sz="3300"/>
                    </a:p>
                  </a:txBody>
                  <a:tcPr marT="91425" marB="91425" marR="91425" marL="91425"/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7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Différenciation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25s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4:00</a:t>
                      </a:r>
                      <a:endParaRPr sz="3300"/>
                    </a:p>
                  </a:txBody>
                  <a:tcPr marT="91425" marB="91425" marR="91425" marL="91425"/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8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Roadmap + Conclusion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0s</a:t>
                      </a:r>
                      <a:endParaRPr sz="3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/>
                        <a:t>4:00</a:t>
                      </a:r>
                      <a:endParaRPr sz="3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